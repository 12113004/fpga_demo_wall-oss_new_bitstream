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8" r:id="rId3"/>
    <p:sldId id="259" r:id="rId4"/>
    <p:sldId id="263" r:id="rId6"/>
    <p:sldId id="261" r:id="rId7"/>
  </p:sldIdLst>
  <p:sldSz cx="6858000" cy="99028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300" autoAdjust="0"/>
    <p:restoredTop sz="94660"/>
  </p:normalViewPr>
  <p:slideViewPr>
    <p:cSldViewPr snapToGrid="0">
      <p:cViewPr>
        <p:scale>
          <a:sx n="125" d="100"/>
          <a:sy n="125" d="100"/>
        </p:scale>
        <p:origin x="2460" y="-15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D24A3B-A7CF-4A03-924E-3BFFA6D9CCC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0DB843-E7AD-4DE1-AB7D-9D382A0011C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7" name="Google Shape;6477;g878bb028e8_1686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43138" y="685800"/>
            <a:ext cx="23717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78" name="Google Shape;6478;g878bb028e8_1686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7" name="Google Shape;6477;g878bb028e8_1686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685800"/>
            <a:ext cx="23749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78" name="Google Shape;6478;g878bb028e8_1686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0671"/>
            <a:ext cx="5829300" cy="344765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1276"/>
            <a:ext cx="5143500" cy="2390890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8832"/>
            <a:ext cx="5915025" cy="411929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7102"/>
            <a:ext cx="5915025" cy="216624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6169"/>
            <a:ext cx="2914650" cy="628325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6169"/>
            <a:ext cx="2914650" cy="628325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236"/>
            <a:ext cx="5915025" cy="191408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7568"/>
            <a:ext cx="2901255" cy="118971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7282"/>
            <a:ext cx="2901255" cy="532047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7568"/>
            <a:ext cx="2915543" cy="118971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7282"/>
            <a:ext cx="2915543" cy="532047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188"/>
            <a:ext cx="2211884" cy="2310659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5826"/>
            <a:ext cx="3471863" cy="703742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0848"/>
            <a:ext cx="2211884" cy="5503862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188"/>
            <a:ext cx="2211884" cy="2310659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5826"/>
            <a:ext cx="3471863" cy="703742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0848"/>
            <a:ext cx="2211884" cy="5503862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234"/>
            <a:ext cx="1478756" cy="8392186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234"/>
            <a:ext cx="4350544" cy="839218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342225" y="2245961"/>
            <a:ext cx="2943606" cy="6654696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2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3572100" y="2245961"/>
            <a:ext cx="2940300" cy="6654696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342225" y="1117782"/>
            <a:ext cx="6172200" cy="7918049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74325" y="3587297"/>
            <a:ext cx="5512050" cy="1471312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45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674325" y="5141794"/>
            <a:ext cx="5512050" cy="681067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18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236"/>
            <a:ext cx="5915025" cy="19140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6169"/>
            <a:ext cx="5915025" cy="62832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78454"/>
            <a:ext cx="1543050" cy="5272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78454"/>
            <a:ext cx="2314575" cy="5272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78454"/>
            <a:ext cx="1543050" cy="5272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0" Type="http://schemas.openxmlformats.org/officeDocument/2006/relationships/slideLayout" Target="../slideLayouts/slideLayout1.xml"/><Relationship Id="rId9" Type="http://schemas.openxmlformats.org/officeDocument/2006/relationships/tags" Target="../tags/tag24.xml"/><Relationship Id="rId89" Type="http://schemas.openxmlformats.org/officeDocument/2006/relationships/tags" Target="../tags/tag104.xml"/><Relationship Id="rId88" Type="http://schemas.openxmlformats.org/officeDocument/2006/relationships/tags" Target="../tags/tag103.xml"/><Relationship Id="rId87" Type="http://schemas.openxmlformats.org/officeDocument/2006/relationships/tags" Target="../tags/tag102.xml"/><Relationship Id="rId86" Type="http://schemas.openxmlformats.org/officeDocument/2006/relationships/tags" Target="../tags/tag101.xml"/><Relationship Id="rId85" Type="http://schemas.openxmlformats.org/officeDocument/2006/relationships/tags" Target="../tags/tag100.xml"/><Relationship Id="rId84" Type="http://schemas.openxmlformats.org/officeDocument/2006/relationships/tags" Target="../tags/tag99.xml"/><Relationship Id="rId83" Type="http://schemas.openxmlformats.org/officeDocument/2006/relationships/tags" Target="../tags/tag98.xml"/><Relationship Id="rId82" Type="http://schemas.openxmlformats.org/officeDocument/2006/relationships/tags" Target="../tags/tag97.xml"/><Relationship Id="rId81" Type="http://schemas.openxmlformats.org/officeDocument/2006/relationships/tags" Target="../tags/tag96.xml"/><Relationship Id="rId80" Type="http://schemas.openxmlformats.org/officeDocument/2006/relationships/tags" Target="../tags/tag95.xml"/><Relationship Id="rId8" Type="http://schemas.openxmlformats.org/officeDocument/2006/relationships/tags" Target="../tags/tag23.xml"/><Relationship Id="rId79" Type="http://schemas.openxmlformats.org/officeDocument/2006/relationships/tags" Target="../tags/tag94.xml"/><Relationship Id="rId78" Type="http://schemas.openxmlformats.org/officeDocument/2006/relationships/tags" Target="../tags/tag93.xml"/><Relationship Id="rId77" Type="http://schemas.openxmlformats.org/officeDocument/2006/relationships/tags" Target="../tags/tag92.xml"/><Relationship Id="rId76" Type="http://schemas.openxmlformats.org/officeDocument/2006/relationships/tags" Target="../tags/tag91.xml"/><Relationship Id="rId75" Type="http://schemas.openxmlformats.org/officeDocument/2006/relationships/tags" Target="../tags/tag90.xml"/><Relationship Id="rId74" Type="http://schemas.openxmlformats.org/officeDocument/2006/relationships/tags" Target="../tags/tag89.xml"/><Relationship Id="rId73" Type="http://schemas.openxmlformats.org/officeDocument/2006/relationships/tags" Target="../tags/tag88.xml"/><Relationship Id="rId72" Type="http://schemas.openxmlformats.org/officeDocument/2006/relationships/tags" Target="../tags/tag87.xml"/><Relationship Id="rId71" Type="http://schemas.openxmlformats.org/officeDocument/2006/relationships/tags" Target="../tags/tag86.xml"/><Relationship Id="rId70" Type="http://schemas.openxmlformats.org/officeDocument/2006/relationships/tags" Target="../tags/tag85.xml"/><Relationship Id="rId7" Type="http://schemas.openxmlformats.org/officeDocument/2006/relationships/tags" Target="../tags/tag22.xml"/><Relationship Id="rId69" Type="http://schemas.openxmlformats.org/officeDocument/2006/relationships/tags" Target="../tags/tag84.xml"/><Relationship Id="rId68" Type="http://schemas.openxmlformats.org/officeDocument/2006/relationships/tags" Target="../tags/tag83.xml"/><Relationship Id="rId67" Type="http://schemas.openxmlformats.org/officeDocument/2006/relationships/tags" Target="../tags/tag82.xml"/><Relationship Id="rId66" Type="http://schemas.openxmlformats.org/officeDocument/2006/relationships/tags" Target="../tags/tag81.xml"/><Relationship Id="rId65" Type="http://schemas.openxmlformats.org/officeDocument/2006/relationships/tags" Target="../tags/tag80.xml"/><Relationship Id="rId64" Type="http://schemas.openxmlformats.org/officeDocument/2006/relationships/tags" Target="../tags/tag79.xml"/><Relationship Id="rId63" Type="http://schemas.openxmlformats.org/officeDocument/2006/relationships/tags" Target="../tags/tag78.xml"/><Relationship Id="rId62" Type="http://schemas.openxmlformats.org/officeDocument/2006/relationships/tags" Target="../tags/tag77.xml"/><Relationship Id="rId61" Type="http://schemas.openxmlformats.org/officeDocument/2006/relationships/tags" Target="../tags/tag76.xml"/><Relationship Id="rId60" Type="http://schemas.openxmlformats.org/officeDocument/2006/relationships/tags" Target="../tags/tag75.xml"/><Relationship Id="rId6" Type="http://schemas.openxmlformats.org/officeDocument/2006/relationships/tags" Target="../tags/tag21.xml"/><Relationship Id="rId59" Type="http://schemas.openxmlformats.org/officeDocument/2006/relationships/tags" Target="../tags/tag74.xml"/><Relationship Id="rId58" Type="http://schemas.openxmlformats.org/officeDocument/2006/relationships/tags" Target="../tags/tag73.xml"/><Relationship Id="rId57" Type="http://schemas.openxmlformats.org/officeDocument/2006/relationships/tags" Target="../tags/tag72.xml"/><Relationship Id="rId56" Type="http://schemas.openxmlformats.org/officeDocument/2006/relationships/tags" Target="../tags/tag71.xml"/><Relationship Id="rId55" Type="http://schemas.openxmlformats.org/officeDocument/2006/relationships/tags" Target="../tags/tag70.xml"/><Relationship Id="rId54" Type="http://schemas.openxmlformats.org/officeDocument/2006/relationships/tags" Target="../tags/tag69.xml"/><Relationship Id="rId53" Type="http://schemas.openxmlformats.org/officeDocument/2006/relationships/tags" Target="../tags/tag68.xml"/><Relationship Id="rId52" Type="http://schemas.openxmlformats.org/officeDocument/2006/relationships/tags" Target="../tags/tag67.xml"/><Relationship Id="rId51" Type="http://schemas.openxmlformats.org/officeDocument/2006/relationships/tags" Target="../tags/tag66.xml"/><Relationship Id="rId50" Type="http://schemas.openxmlformats.org/officeDocument/2006/relationships/tags" Target="../tags/tag65.xml"/><Relationship Id="rId5" Type="http://schemas.openxmlformats.org/officeDocument/2006/relationships/tags" Target="../tags/tag20.xml"/><Relationship Id="rId49" Type="http://schemas.openxmlformats.org/officeDocument/2006/relationships/tags" Target="../tags/tag64.xml"/><Relationship Id="rId48" Type="http://schemas.openxmlformats.org/officeDocument/2006/relationships/tags" Target="../tags/tag63.xml"/><Relationship Id="rId47" Type="http://schemas.openxmlformats.org/officeDocument/2006/relationships/tags" Target="../tags/tag62.xml"/><Relationship Id="rId46" Type="http://schemas.openxmlformats.org/officeDocument/2006/relationships/tags" Target="../tags/tag61.xml"/><Relationship Id="rId45" Type="http://schemas.openxmlformats.org/officeDocument/2006/relationships/tags" Target="../tags/tag60.xml"/><Relationship Id="rId44" Type="http://schemas.openxmlformats.org/officeDocument/2006/relationships/tags" Target="../tags/tag59.xml"/><Relationship Id="rId43" Type="http://schemas.openxmlformats.org/officeDocument/2006/relationships/tags" Target="../tags/tag58.xml"/><Relationship Id="rId42" Type="http://schemas.openxmlformats.org/officeDocument/2006/relationships/tags" Target="../tags/tag57.xml"/><Relationship Id="rId41" Type="http://schemas.openxmlformats.org/officeDocument/2006/relationships/tags" Target="../tags/tag56.xml"/><Relationship Id="rId40" Type="http://schemas.openxmlformats.org/officeDocument/2006/relationships/tags" Target="../tags/tag55.xml"/><Relationship Id="rId4" Type="http://schemas.openxmlformats.org/officeDocument/2006/relationships/tags" Target="../tags/tag19.xml"/><Relationship Id="rId39" Type="http://schemas.openxmlformats.org/officeDocument/2006/relationships/tags" Target="../tags/tag54.xml"/><Relationship Id="rId38" Type="http://schemas.openxmlformats.org/officeDocument/2006/relationships/tags" Target="../tags/tag53.xml"/><Relationship Id="rId37" Type="http://schemas.openxmlformats.org/officeDocument/2006/relationships/tags" Target="../tags/tag52.xml"/><Relationship Id="rId36" Type="http://schemas.openxmlformats.org/officeDocument/2006/relationships/tags" Target="../tags/tag51.xml"/><Relationship Id="rId35" Type="http://schemas.openxmlformats.org/officeDocument/2006/relationships/tags" Target="../tags/tag50.xml"/><Relationship Id="rId34" Type="http://schemas.openxmlformats.org/officeDocument/2006/relationships/tags" Target="../tags/tag49.xml"/><Relationship Id="rId33" Type="http://schemas.openxmlformats.org/officeDocument/2006/relationships/tags" Target="../tags/tag48.xml"/><Relationship Id="rId32" Type="http://schemas.openxmlformats.org/officeDocument/2006/relationships/tags" Target="../tags/tag47.xml"/><Relationship Id="rId31" Type="http://schemas.openxmlformats.org/officeDocument/2006/relationships/tags" Target="../tags/tag46.xml"/><Relationship Id="rId30" Type="http://schemas.openxmlformats.org/officeDocument/2006/relationships/tags" Target="../tags/tag45.xml"/><Relationship Id="rId3" Type="http://schemas.openxmlformats.org/officeDocument/2006/relationships/tags" Target="../tags/tag18.xml"/><Relationship Id="rId29" Type="http://schemas.openxmlformats.org/officeDocument/2006/relationships/tags" Target="../tags/tag44.xml"/><Relationship Id="rId28" Type="http://schemas.openxmlformats.org/officeDocument/2006/relationships/tags" Target="../tags/tag43.xml"/><Relationship Id="rId27" Type="http://schemas.openxmlformats.org/officeDocument/2006/relationships/tags" Target="../tags/tag42.xml"/><Relationship Id="rId26" Type="http://schemas.openxmlformats.org/officeDocument/2006/relationships/tags" Target="../tags/tag41.xml"/><Relationship Id="rId25" Type="http://schemas.openxmlformats.org/officeDocument/2006/relationships/tags" Target="../tags/tag40.xml"/><Relationship Id="rId24" Type="http://schemas.openxmlformats.org/officeDocument/2006/relationships/tags" Target="../tags/tag39.xml"/><Relationship Id="rId23" Type="http://schemas.openxmlformats.org/officeDocument/2006/relationships/tags" Target="../tags/tag38.xml"/><Relationship Id="rId22" Type="http://schemas.openxmlformats.org/officeDocument/2006/relationships/tags" Target="../tags/tag37.xml"/><Relationship Id="rId21" Type="http://schemas.openxmlformats.org/officeDocument/2006/relationships/tags" Target="../tags/tag36.xml"/><Relationship Id="rId20" Type="http://schemas.openxmlformats.org/officeDocument/2006/relationships/tags" Target="../tags/tag35.xml"/><Relationship Id="rId2" Type="http://schemas.openxmlformats.org/officeDocument/2006/relationships/tags" Target="../tags/tag17.xml"/><Relationship Id="rId19" Type="http://schemas.openxmlformats.org/officeDocument/2006/relationships/tags" Target="../tags/tag34.xml"/><Relationship Id="rId18" Type="http://schemas.openxmlformats.org/officeDocument/2006/relationships/tags" Target="../tags/tag33.xml"/><Relationship Id="rId17" Type="http://schemas.openxmlformats.org/officeDocument/2006/relationships/tags" Target="../tags/tag32.xml"/><Relationship Id="rId16" Type="http://schemas.openxmlformats.org/officeDocument/2006/relationships/tags" Target="../tags/tag31.xml"/><Relationship Id="rId15" Type="http://schemas.openxmlformats.org/officeDocument/2006/relationships/tags" Target="../tags/tag30.xml"/><Relationship Id="rId14" Type="http://schemas.openxmlformats.org/officeDocument/2006/relationships/tags" Target="../tags/tag29.xml"/><Relationship Id="rId13" Type="http://schemas.openxmlformats.org/officeDocument/2006/relationships/tags" Target="../tags/tag28.xml"/><Relationship Id="rId12" Type="http://schemas.openxmlformats.org/officeDocument/2006/relationships/tags" Target="../tags/tag27.xml"/><Relationship Id="rId11" Type="http://schemas.openxmlformats.org/officeDocument/2006/relationships/tags" Target="../tags/tag26.xml"/><Relationship Id="rId10" Type="http://schemas.openxmlformats.org/officeDocument/2006/relationships/tags" Target="../tags/tag25.xml"/><Relationship Id="rId1" Type="http://schemas.openxmlformats.org/officeDocument/2006/relationships/tags" Target="../tags/tag16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13.xml"/><Relationship Id="rId8" Type="http://schemas.openxmlformats.org/officeDocument/2006/relationships/tags" Target="../tags/tag112.xml"/><Relationship Id="rId7" Type="http://schemas.openxmlformats.org/officeDocument/2006/relationships/tags" Target="../tags/tag111.xml"/><Relationship Id="rId64" Type="http://schemas.openxmlformats.org/officeDocument/2006/relationships/notesSlide" Target="../notesSlides/notesSlide1.xml"/><Relationship Id="rId63" Type="http://schemas.openxmlformats.org/officeDocument/2006/relationships/slideLayout" Target="../slideLayouts/slideLayout1.xml"/><Relationship Id="rId62" Type="http://schemas.openxmlformats.org/officeDocument/2006/relationships/tags" Target="../tags/tag166.xml"/><Relationship Id="rId61" Type="http://schemas.openxmlformats.org/officeDocument/2006/relationships/tags" Target="../tags/tag165.xml"/><Relationship Id="rId60" Type="http://schemas.openxmlformats.org/officeDocument/2006/relationships/tags" Target="../tags/tag164.xml"/><Relationship Id="rId6" Type="http://schemas.openxmlformats.org/officeDocument/2006/relationships/tags" Target="../tags/tag110.xml"/><Relationship Id="rId59" Type="http://schemas.openxmlformats.org/officeDocument/2006/relationships/tags" Target="../tags/tag163.xml"/><Relationship Id="rId58" Type="http://schemas.openxmlformats.org/officeDocument/2006/relationships/tags" Target="../tags/tag162.xml"/><Relationship Id="rId57" Type="http://schemas.openxmlformats.org/officeDocument/2006/relationships/tags" Target="../tags/tag161.xml"/><Relationship Id="rId56" Type="http://schemas.openxmlformats.org/officeDocument/2006/relationships/tags" Target="../tags/tag160.xml"/><Relationship Id="rId55" Type="http://schemas.openxmlformats.org/officeDocument/2006/relationships/tags" Target="../tags/tag159.xml"/><Relationship Id="rId54" Type="http://schemas.openxmlformats.org/officeDocument/2006/relationships/tags" Target="../tags/tag158.xml"/><Relationship Id="rId53" Type="http://schemas.openxmlformats.org/officeDocument/2006/relationships/tags" Target="../tags/tag157.xml"/><Relationship Id="rId52" Type="http://schemas.openxmlformats.org/officeDocument/2006/relationships/tags" Target="../tags/tag156.xml"/><Relationship Id="rId51" Type="http://schemas.openxmlformats.org/officeDocument/2006/relationships/tags" Target="../tags/tag155.xml"/><Relationship Id="rId50" Type="http://schemas.openxmlformats.org/officeDocument/2006/relationships/tags" Target="../tags/tag154.xml"/><Relationship Id="rId5" Type="http://schemas.openxmlformats.org/officeDocument/2006/relationships/tags" Target="../tags/tag109.xml"/><Relationship Id="rId49" Type="http://schemas.openxmlformats.org/officeDocument/2006/relationships/tags" Target="../tags/tag153.xml"/><Relationship Id="rId48" Type="http://schemas.openxmlformats.org/officeDocument/2006/relationships/tags" Target="../tags/tag152.xml"/><Relationship Id="rId47" Type="http://schemas.openxmlformats.org/officeDocument/2006/relationships/tags" Target="../tags/tag151.xml"/><Relationship Id="rId46" Type="http://schemas.openxmlformats.org/officeDocument/2006/relationships/tags" Target="../tags/tag150.xml"/><Relationship Id="rId45" Type="http://schemas.openxmlformats.org/officeDocument/2006/relationships/tags" Target="../tags/tag149.xml"/><Relationship Id="rId44" Type="http://schemas.openxmlformats.org/officeDocument/2006/relationships/tags" Target="../tags/tag148.xml"/><Relationship Id="rId43" Type="http://schemas.openxmlformats.org/officeDocument/2006/relationships/tags" Target="../tags/tag147.xml"/><Relationship Id="rId42" Type="http://schemas.openxmlformats.org/officeDocument/2006/relationships/tags" Target="../tags/tag146.xml"/><Relationship Id="rId41" Type="http://schemas.openxmlformats.org/officeDocument/2006/relationships/tags" Target="../tags/tag145.xml"/><Relationship Id="rId40" Type="http://schemas.openxmlformats.org/officeDocument/2006/relationships/tags" Target="../tags/tag144.xml"/><Relationship Id="rId4" Type="http://schemas.openxmlformats.org/officeDocument/2006/relationships/tags" Target="../tags/tag108.xml"/><Relationship Id="rId39" Type="http://schemas.openxmlformats.org/officeDocument/2006/relationships/tags" Target="../tags/tag143.xml"/><Relationship Id="rId38" Type="http://schemas.openxmlformats.org/officeDocument/2006/relationships/tags" Target="../tags/tag142.xml"/><Relationship Id="rId37" Type="http://schemas.openxmlformats.org/officeDocument/2006/relationships/tags" Target="../tags/tag141.xml"/><Relationship Id="rId36" Type="http://schemas.openxmlformats.org/officeDocument/2006/relationships/tags" Target="../tags/tag140.xml"/><Relationship Id="rId35" Type="http://schemas.openxmlformats.org/officeDocument/2006/relationships/tags" Target="../tags/tag139.xml"/><Relationship Id="rId34" Type="http://schemas.openxmlformats.org/officeDocument/2006/relationships/tags" Target="../tags/tag138.xml"/><Relationship Id="rId33" Type="http://schemas.openxmlformats.org/officeDocument/2006/relationships/tags" Target="../tags/tag137.xml"/><Relationship Id="rId32" Type="http://schemas.openxmlformats.org/officeDocument/2006/relationships/tags" Target="../tags/tag136.xml"/><Relationship Id="rId31" Type="http://schemas.openxmlformats.org/officeDocument/2006/relationships/tags" Target="../tags/tag135.xml"/><Relationship Id="rId30" Type="http://schemas.openxmlformats.org/officeDocument/2006/relationships/tags" Target="../tags/tag134.xml"/><Relationship Id="rId3" Type="http://schemas.openxmlformats.org/officeDocument/2006/relationships/tags" Target="../tags/tag107.xml"/><Relationship Id="rId29" Type="http://schemas.openxmlformats.org/officeDocument/2006/relationships/tags" Target="../tags/tag133.xml"/><Relationship Id="rId28" Type="http://schemas.openxmlformats.org/officeDocument/2006/relationships/tags" Target="../tags/tag132.xml"/><Relationship Id="rId27" Type="http://schemas.openxmlformats.org/officeDocument/2006/relationships/tags" Target="../tags/tag131.xml"/><Relationship Id="rId26" Type="http://schemas.openxmlformats.org/officeDocument/2006/relationships/tags" Target="../tags/tag130.xml"/><Relationship Id="rId25" Type="http://schemas.openxmlformats.org/officeDocument/2006/relationships/tags" Target="../tags/tag129.xml"/><Relationship Id="rId24" Type="http://schemas.openxmlformats.org/officeDocument/2006/relationships/tags" Target="../tags/tag128.xml"/><Relationship Id="rId23" Type="http://schemas.openxmlformats.org/officeDocument/2006/relationships/tags" Target="../tags/tag127.xml"/><Relationship Id="rId22" Type="http://schemas.openxmlformats.org/officeDocument/2006/relationships/tags" Target="../tags/tag126.xml"/><Relationship Id="rId21" Type="http://schemas.openxmlformats.org/officeDocument/2006/relationships/tags" Target="../tags/tag125.xml"/><Relationship Id="rId20" Type="http://schemas.openxmlformats.org/officeDocument/2006/relationships/tags" Target="../tags/tag124.xml"/><Relationship Id="rId2" Type="http://schemas.openxmlformats.org/officeDocument/2006/relationships/tags" Target="../tags/tag106.xml"/><Relationship Id="rId19" Type="http://schemas.openxmlformats.org/officeDocument/2006/relationships/tags" Target="../tags/tag123.xml"/><Relationship Id="rId18" Type="http://schemas.openxmlformats.org/officeDocument/2006/relationships/tags" Target="../tags/tag122.xml"/><Relationship Id="rId17" Type="http://schemas.openxmlformats.org/officeDocument/2006/relationships/tags" Target="../tags/tag121.xml"/><Relationship Id="rId16" Type="http://schemas.openxmlformats.org/officeDocument/2006/relationships/tags" Target="../tags/tag120.xml"/><Relationship Id="rId15" Type="http://schemas.openxmlformats.org/officeDocument/2006/relationships/tags" Target="../tags/tag119.xml"/><Relationship Id="rId14" Type="http://schemas.openxmlformats.org/officeDocument/2006/relationships/tags" Target="../tags/tag118.xml"/><Relationship Id="rId13" Type="http://schemas.openxmlformats.org/officeDocument/2006/relationships/tags" Target="../tags/tag117.xml"/><Relationship Id="rId12" Type="http://schemas.openxmlformats.org/officeDocument/2006/relationships/tags" Target="../tags/tag116.xml"/><Relationship Id="rId11" Type="http://schemas.openxmlformats.org/officeDocument/2006/relationships/tags" Target="../tags/tag115.xml"/><Relationship Id="rId10" Type="http://schemas.openxmlformats.org/officeDocument/2006/relationships/tags" Target="../tags/tag114.xml"/><Relationship Id="rId1" Type="http://schemas.openxmlformats.org/officeDocument/2006/relationships/tags" Target="../tags/tag105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169.xml"/><Relationship Id="rId2" Type="http://schemas.openxmlformats.org/officeDocument/2006/relationships/tags" Target="../tags/tag168.xml"/><Relationship Id="rId1" Type="http://schemas.openxmlformats.org/officeDocument/2006/relationships/tags" Target="../tags/tag16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6480;p66"/>
          <p:cNvSpPr/>
          <p:nvPr>
            <p:custDataLst>
              <p:tags r:id="rId1"/>
            </p:custDataLst>
          </p:nvPr>
        </p:nvSpPr>
        <p:spPr>
          <a:xfrm>
            <a:off x="240665" y="440690"/>
            <a:ext cx="4050030" cy="9437370"/>
          </a:xfrm>
          <a:prstGeom prst="rect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AB40">
                    <a:lumMod val="20000"/>
                    <a:lumOff val="80000"/>
                  </a:srgbClr>
                </a:solidFill>
              </a14:hiddenFill>
            </a:ext>
          </a:ex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200">
              <a:buClr>
                <a:srgbClr val="000000"/>
              </a:buClr>
            </a:pPr>
            <a:endParaRPr lang="en-US" altLang="zh-CN" sz="1200" kern="0" dirty="0">
              <a:solidFill>
                <a:srgbClr val="000000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</p:txBody>
      </p:sp>
      <p:sp>
        <p:nvSpPr>
          <p:cNvPr id="23" name="Google Shape;6481;p66"/>
          <p:cNvSpPr/>
          <p:nvPr>
            <p:custDataLst>
              <p:tags r:id="rId2"/>
            </p:custDataLst>
          </p:nvPr>
        </p:nvSpPr>
        <p:spPr>
          <a:xfrm>
            <a:off x="366397" y="1870710"/>
            <a:ext cx="1133475" cy="61087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200">
              <a:buClr>
                <a:srgbClr val="000000"/>
              </a:buClr>
            </a:pPr>
            <a:r>
              <a:rPr lang="en-US" altLang="zh-CN" sz="1000" kern="0" dirty="0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MVM_BN </a:t>
            </a:r>
            <a:r>
              <a:rPr lang="en-US" altLang="zh-CN" sz="1000" kern="0" baseline="-25000" dirty="0">
                <a:solidFill>
                  <a:srgbClr val="FF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(x 32)</a:t>
            </a:r>
            <a:endParaRPr lang="en-US" altLang="zh-CN" sz="1000" kern="0" baseline="-25000" dirty="0">
              <a:solidFill>
                <a:srgbClr val="000000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  <a:p>
            <a:pPr algn="ctr" defTabSz="1219200">
              <a:buClr>
                <a:srgbClr val="000000"/>
              </a:buClr>
            </a:pPr>
            <a:r>
              <a:rPr lang="en-US" altLang="zh-CN" sz="1000" kern="0" dirty="0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W</a:t>
            </a:r>
            <a:r>
              <a:rPr lang="en-US" altLang="zh-CN" sz="1000" kern="0" baseline="30000" dirty="0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Q</a:t>
            </a:r>
            <a:r>
              <a:rPr lang="en-US" sz="1000" kern="0" dirty="0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: [4096,128]</a:t>
            </a:r>
            <a:endParaRPr lang="en-US" sz="1000" kern="0" dirty="0">
              <a:solidFill>
                <a:srgbClr val="000000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  <a:p>
            <a:pPr algn="ctr" defTabSz="1219200">
              <a:buClr>
                <a:srgbClr val="000000"/>
              </a:buClr>
            </a:pPr>
            <a:r>
              <a:rPr lang="en-US" sz="1000" kern="0" dirty="0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Scale: [32,</a:t>
            </a:r>
            <a:r>
              <a:rPr lang="en-US" sz="1000" kern="0" dirty="0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128</a:t>
            </a:r>
            <a:r>
              <a:rPr lang="en-US" sz="1000" kern="0" dirty="0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]</a:t>
            </a:r>
            <a:endParaRPr lang="en-US" sz="1000" kern="0" dirty="0">
              <a:solidFill>
                <a:srgbClr val="000000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</p:txBody>
      </p:sp>
      <p:sp>
        <p:nvSpPr>
          <p:cNvPr id="24" name="Google Shape;6480;p66"/>
          <p:cNvSpPr/>
          <p:nvPr>
            <p:custDataLst>
              <p:tags r:id="rId3"/>
            </p:custDataLst>
          </p:nvPr>
        </p:nvSpPr>
        <p:spPr>
          <a:xfrm>
            <a:off x="1474470" y="28575"/>
            <a:ext cx="1292860" cy="31242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200">
              <a:buClr>
                <a:srgbClr val="000000"/>
              </a:buClr>
            </a:pPr>
            <a:r>
              <a:rPr lang="en-US" altLang="zh-CN" sz="1000" kern="0" dirty="0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Embedded input</a:t>
            </a:r>
            <a:endParaRPr lang="en-US" altLang="zh-CN" sz="1000" kern="0" dirty="0">
              <a:solidFill>
                <a:srgbClr val="000000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  <a:p>
            <a:pPr algn="ctr" defTabSz="1219200">
              <a:buClr>
                <a:srgbClr val="000000"/>
              </a:buClr>
            </a:pPr>
            <a:r>
              <a:rPr lang="en-US" altLang="zh-CN" sz="1000" kern="0" dirty="0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[19,1,4096] (FP16) </a:t>
            </a:r>
            <a:endParaRPr lang="en-US" altLang="zh-CN" sz="1000" kern="0" dirty="0">
              <a:solidFill>
                <a:srgbClr val="000000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</p:txBody>
      </p:sp>
      <p:sp>
        <p:nvSpPr>
          <p:cNvPr id="25" name="Google Shape;6480;p66"/>
          <p:cNvSpPr/>
          <p:nvPr>
            <p:custDataLst>
              <p:tags r:id="rId4"/>
            </p:custDataLst>
          </p:nvPr>
        </p:nvSpPr>
        <p:spPr>
          <a:xfrm>
            <a:off x="1461770" y="527052"/>
            <a:ext cx="1292860" cy="536575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200">
              <a:buClr>
                <a:srgbClr val="000000"/>
              </a:buClr>
            </a:pPr>
            <a:r>
              <a:rPr lang="en-US" altLang="zh-CN" sz="1000" kern="0" dirty="0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RMSNorm</a:t>
            </a:r>
            <a:endParaRPr lang="en-US" altLang="zh-CN" sz="1000" kern="0" dirty="0">
              <a:solidFill>
                <a:srgbClr val="000000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  <a:p>
            <a:pPr algn="ctr" defTabSz="1219200">
              <a:buClr>
                <a:srgbClr val="000000"/>
              </a:buClr>
            </a:pPr>
            <a:r>
              <a:rPr lang="en-US" altLang="zh-CN" sz="1000" kern="0" dirty="0" err="1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LN_k</a:t>
            </a:r>
            <a:r>
              <a:rPr lang="en-US" altLang="zh-CN" sz="1000" kern="0" dirty="0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: [1,4096] </a:t>
            </a:r>
            <a:endParaRPr lang="en-US" altLang="zh-CN" sz="1000" kern="0" dirty="0">
              <a:solidFill>
                <a:srgbClr val="000000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  <a:p>
            <a:pPr algn="ctr" defTabSz="1219200">
              <a:buClr>
                <a:srgbClr val="000000"/>
              </a:buClr>
            </a:pPr>
            <a:r>
              <a:rPr lang="en-US" altLang="zh-CN" sz="1000" kern="0" dirty="0" err="1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LN_bias</a:t>
            </a:r>
            <a:r>
              <a:rPr lang="en-US" altLang="zh-CN" sz="1000" kern="0" dirty="0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: [4096] </a:t>
            </a:r>
            <a:endParaRPr lang="en-US" altLang="zh-CN" sz="1000" kern="0" dirty="0">
              <a:solidFill>
                <a:srgbClr val="000000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26" name="直接箭头连接符 25"/>
          <p:cNvCxnSpPr>
            <a:stCxn id="24" idx="2"/>
            <a:endCxn id="25" idx="0"/>
          </p:cNvCxnSpPr>
          <p:nvPr>
            <p:custDataLst>
              <p:tags r:id="rId5"/>
            </p:custDataLst>
          </p:nvPr>
        </p:nvCxnSpPr>
        <p:spPr>
          <a:xfrm flipH="1">
            <a:off x="2108200" y="340997"/>
            <a:ext cx="12700" cy="186055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sp>
        <p:nvSpPr>
          <p:cNvPr id="27" name="Google Shape;6480;p66"/>
          <p:cNvSpPr/>
          <p:nvPr>
            <p:custDataLst>
              <p:tags r:id="rId6"/>
            </p:custDataLst>
          </p:nvPr>
        </p:nvSpPr>
        <p:spPr>
          <a:xfrm>
            <a:off x="1276985" y="1191895"/>
            <a:ext cx="1653540" cy="31242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200">
              <a:buClr>
                <a:srgbClr val="000000"/>
              </a:buClr>
            </a:pPr>
            <a:r>
              <a:rPr lang="en-US" altLang="zh-CN" sz="1000" kern="0" dirty="0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RMSNorm output</a:t>
            </a:r>
            <a:endParaRPr lang="en-US" altLang="zh-CN" sz="1000" kern="0" dirty="0">
              <a:solidFill>
                <a:srgbClr val="000000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  <a:p>
            <a:pPr algn="ctr" defTabSz="1219200">
              <a:buClr>
                <a:srgbClr val="000000"/>
              </a:buClr>
            </a:pPr>
            <a:r>
              <a:rPr lang="en-US" altLang="zh-CN" sz="1000" kern="0" dirty="0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[19,1,4096] (FP16)</a:t>
            </a:r>
            <a:endParaRPr lang="en-US" altLang="zh-CN" sz="1000" kern="0" dirty="0">
              <a:solidFill>
                <a:srgbClr val="000000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28" name="直接箭头连接符 27"/>
          <p:cNvCxnSpPr>
            <a:stCxn id="25" idx="2"/>
            <a:endCxn id="27" idx="0"/>
          </p:cNvCxnSpPr>
          <p:nvPr>
            <p:custDataLst>
              <p:tags r:id="rId7"/>
            </p:custDataLst>
          </p:nvPr>
        </p:nvCxnSpPr>
        <p:spPr>
          <a:xfrm flipH="1">
            <a:off x="2103757" y="1063625"/>
            <a:ext cx="4445" cy="128270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sp>
        <p:nvSpPr>
          <p:cNvPr id="30" name="Google Shape;6481;p66"/>
          <p:cNvSpPr/>
          <p:nvPr>
            <p:custDataLst>
              <p:tags r:id="rId8"/>
            </p:custDataLst>
          </p:nvPr>
        </p:nvSpPr>
        <p:spPr>
          <a:xfrm>
            <a:off x="1578612" y="1870710"/>
            <a:ext cx="1133475" cy="61087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200">
              <a:buClr>
                <a:srgbClr val="000000"/>
              </a:buClr>
            </a:pPr>
            <a:r>
              <a:rPr lang="en-US" altLang="zh-CN" sz="1000" kern="0" dirty="0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MVM_BN </a:t>
            </a:r>
            <a:r>
              <a:rPr lang="en-US" altLang="zh-CN" sz="1000" kern="0" baseline="-25000" dirty="0">
                <a:solidFill>
                  <a:srgbClr val="FF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(x 8)</a:t>
            </a:r>
            <a:endParaRPr lang="en-US" altLang="zh-CN" sz="1000" kern="0" dirty="0">
              <a:solidFill>
                <a:srgbClr val="000000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  <a:p>
            <a:pPr algn="ctr" defTabSz="1219200">
              <a:buClr>
                <a:srgbClr val="000000"/>
              </a:buClr>
            </a:pPr>
            <a:r>
              <a:rPr lang="en-US" altLang="zh-CN" sz="1000" kern="0" dirty="0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W</a:t>
            </a:r>
            <a:r>
              <a:rPr lang="en-US" altLang="zh-CN" sz="1000" kern="0" baseline="30000" dirty="0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K</a:t>
            </a:r>
            <a:r>
              <a:rPr lang="en-US" sz="1000" kern="0" dirty="0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: [4096,128]</a:t>
            </a:r>
            <a:endParaRPr lang="en-US" sz="1000" kern="0" dirty="0">
              <a:solidFill>
                <a:srgbClr val="000000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  <a:p>
            <a:pPr algn="ctr" defTabSz="1219200">
              <a:buClr>
                <a:srgbClr val="000000"/>
              </a:buClr>
            </a:pPr>
            <a:r>
              <a:rPr lang="en-US" sz="1000" kern="0" dirty="0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Scale: [32,128]</a:t>
            </a:r>
            <a:endParaRPr lang="en-US" sz="1000" kern="0" dirty="0">
              <a:solidFill>
                <a:srgbClr val="000000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</p:txBody>
      </p:sp>
      <p:sp>
        <p:nvSpPr>
          <p:cNvPr id="32" name="Google Shape;6481;p66"/>
          <p:cNvSpPr/>
          <p:nvPr>
            <p:custDataLst>
              <p:tags r:id="rId9"/>
            </p:custDataLst>
          </p:nvPr>
        </p:nvSpPr>
        <p:spPr>
          <a:xfrm>
            <a:off x="2792732" y="1868170"/>
            <a:ext cx="1133475" cy="61087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200">
              <a:buClr>
                <a:srgbClr val="000000"/>
              </a:buClr>
            </a:pPr>
            <a:r>
              <a:rPr lang="en-US" altLang="zh-CN" sz="1000" kern="0" dirty="0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MVM_BN </a:t>
            </a:r>
            <a:r>
              <a:rPr lang="en-US" altLang="zh-CN" sz="1000" kern="0" baseline="-25000" dirty="0">
                <a:solidFill>
                  <a:srgbClr val="FF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(x 8)</a:t>
            </a:r>
            <a:endParaRPr lang="en-US" altLang="zh-CN" sz="1000" kern="0" dirty="0">
              <a:solidFill>
                <a:srgbClr val="000000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  <a:p>
            <a:pPr algn="ctr" defTabSz="1219200">
              <a:buClr>
                <a:srgbClr val="000000"/>
              </a:buClr>
            </a:pPr>
            <a:r>
              <a:rPr lang="en-US" altLang="zh-CN" sz="1000" kern="0" dirty="0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W</a:t>
            </a:r>
            <a:r>
              <a:rPr lang="en-US" altLang="zh-CN" sz="1000" kern="0" baseline="30000" dirty="0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V</a:t>
            </a:r>
            <a:r>
              <a:rPr lang="en-US" sz="1000" kern="0" dirty="0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: [4096,128]</a:t>
            </a:r>
            <a:endParaRPr lang="en-US" sz="1000" kern="0" dirty="0">
              <a:solidFill>
                <a:srgbClr val="000000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  <a:p>
            <a:pPr algn="ctr" defTabSz="1219200">
              <a:buClr>
                <a:srgbClr val="000000"/>
              </a:buClr>
            </a:pPr>
            <a:r>
              <a:rPr lang="en-US" sz="1000" kern="0" dirty="0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Scale: [32,128]</a:t>
            </a:r>
            <a:endParaRPr lang="en-US" sz="1000" kern="0" dirty="0">
              <a:solidFill>
                <a:srgbClr val="000000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33" name="Google Shape;6494;p66"/>
          <p:cNvCxnSpPr>
            <a:stCxn id="27" idx="2"/>
            <a:endCxn id="23" idx="0"/>
          </p:cNvCxnSpPr>
          <p:nvPr>
            <p:custDataLst>
              <p:tags r:id="rId10"/>
            </p:custDataLst>
          </p:nvPr>
        </p:nvCxnSpPr>
        <p:spPr>
          <a:xfrm rot="5400000">
            <a:off x="1335407" y="1102362"/>
            <a:ext cx="366395" cy="1170305"/>
          </a:xfrm>
          <a:prstGeom prst="curvedConnector3">
            <a:avLst>
              <a:gd name="adj1" fmla="val 50087"/>
            </a:avLst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4" name="Google Shape;6495;p66"/>
          <p:cNvCxnSpPr>
            <a:stCxn id="27" idx="2"/>
          </p:cNvCxnSpPr>
          <p:nvPr>
            <p:custDataLst>
              <p:tags r:id="rId11"/>
            </p:custDataLst>
          </p:nvPr>
        </p:nvCxnSpPr>
        <p:spPr>
          <a:xfrm rot="5400000">
            <a:off x="1917702" y="1685925"/>
            <a:ext cx="367665" cy="381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5" name="Google Shape;6496;p66"/>
          <p:cNvCxnSpPr>
            <a:stCxn id="27" idx="2"/>
            <a:endCxn id="32" idx="0"/>
          </p:cNvCxnSpPr>
          <p:nvPr>
            <p:custDataLst>
              <p:tags r:id="rId12"/>
            </p:custDataLst>
          </p:nvPr>
        </p:nvCxnSpPr>
        <p:spPr>
          <a:xfrm rot="5400000" flipV="1">
            <a:off x="2550162" y="1058545"/>
            <a:ext cx="363855" cy="125603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6" name="Google Shape;6480;p66"/>
          <p:cNvSpPr/>
          <p:nvPr>
            <p:custDataLst>
              <p:tags r:id="rId13"/>
            </p:custDataLst>
          </p:nvPr>
        </p:nvSpPr>
        <p:spPr>
          <a:xfrm>
            <a:off x="366397" y="4154494"/>
            <a:ext cx="1133475" cy="31242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200">
              <a:buClr>
                <a:srgbClr val="000000"/>
              </a:buClr>
            </a:pPr>
            <a:r>
              <a:rPr lang="en-US" altLang="zh-CN" sz="1000" kern="0" dirty="0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Query</a:t>
            </a:r>
            <a:r>
              <a:rPr lang="en-US" altLang="zh-CN" sz="1000" kern="0" baseline="-25000" dirty="0">
                <a:solidFill>
                  <a:srgbClr val="FF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(x 32)</a:t>
            </a:r>
            <a:endParaRPr lang="en-US" altLang="zh-CN" sz="1000" kern="0" dirty="0">
              <a:solidFill>
                <a:srgbClr val="000000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  <a:p>
            <a:pPr algn="ctr" defTabSz="1219200">
              <a:buClr>
                <a:srgbClr val="000000"/>
              </a:buClr>
            </a:pPr>
            <a:r>
              <a:rPr lang="en-US" altLang="zh-CN" sz="1000" kern="0" dirty="0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[19,1,128]</a:t>
            </a:r>
            <a:endParaRPr lang="en-US" altLang="zh-CN" sz="1000" kern="0" dirty="0">
              <a:solidFill>
                <a:srgbClr val="000000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</p:txBody>
      </p:sp>
      <p:sp>
        <p:nvSpPr>
          <p:cNvPr id="37" name="Google Shape;6480;p66"/>
          <p:cNvSpPr/>
          <p:nvPr>
            <p:custDataLst>
              <p:tags r:id="rId14"/>
            </p:custDataLst>
          </p:nvPr>
        </p:nvSpPr>
        <p:spPr>
          <a:xfrm>
            <a:off x="1592422" y="4148463"/>
            <a:ext cx="1133475" cy="31242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200">
              <a:buClr>
                <a:srgbClr val="000000"/>
              </a:buClr>
            </a:pPr>
            <a:r>
              <a:rPr lang="en-US" altLang="zh-CN" sz="1000" kern="0" dirty="0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Key </a:t>
            </a:r>
            <a:r>
              <a:rPr lang="en-US" altLang="zh-CN" sz="1000" kern="0" baseline="-25000" dirty="0">
                <a:solidFill>
                  <a:srgbClr val="FF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(x 8)</a:t>
            </a:r>
            <a:endParaRPr lang="en-US" altLang="zh-CN" sz="1000" kern="0" dirty="0">
              <a:solidFill>
                <a:srgbClr val="000000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  <a:p>
            <a:pPr algn="ctr" defTabSz="1219200">
              <a:buClr>
                <a:srgbClr val="000000"/>
              </a:buClr>
            </a:pPr>
            <a:r>
              <a:rPr lang="en-US" altLang="zh-CN" sz="1000" kern="0" dirty="0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[19,1,128]</a:t>
            </a:r>
            <a:endParaRPr lang="en-US" altLang="zh-CN" sz="1000" kern="0" dirty="0">
              <a:solidFill>
                <a:srgbClr val="000000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</p:txBody>
      </p:sp>
      <p:sp>
        <p:nvSpPr>
          <p:cNvPr id="39" name="Google Shape;6480;p66"/>
          <p:cNvSpPr/>
          <p:nvPr>
            <p:custDataLst>
              <p:tags r:id="rId15"/>
            </p:custDataLst>
          </p:nvPr>
        </p:nvSpPr>
        <p:spPr>
          <a:xfrm>
            <a:off x="2792732" y="2797810"/>
            <a:ext cx="1133475" cy="312420"/>
          </a:xfrm>
          <a:prstGeom prst="rect">
            <a:avLst/>
          </a:prstGeom>
          <a:solidFill>
            <a:srgbClr val="00B0F0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200">
              <a:buClr>
                <a:srgbClr val="000000"/>
              </a:buClr>
            </a:pPr>
            <a:r>
              <a:rPr lang="en-US" altLang="zh-CN" sz="1000" kern="0" dirty="0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Value </a:t>
            </a:r>
            <a:r>
              <a:rPr lang="en-US" altLang="zh-CN" sz="1000" kern="0" baseline="-25000" dirty="0">
                <a:solidFill>
                  <a:srgbClr val="FF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(x 8)</a:t>
            </a:r>
            <a:endParaRPr lang="en-US" altLang="zh-CN" sz="1000" kern="0" dirty="0">
              <a:solidFill>
                <a:srgbClr val="000000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  <a:p>
            <a:pPr algn="ctr" defTabSz="1219200">
              <a:buClr>
                <a:srgbClr val="000000"/>
              </a:buClr>
            </a:pPr>
            <a:r>
              <a:rPr lang="en-US" altLang="zh-CN" sz="1000" kern="0" dirty="0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[19,1,128]</a:t>
            </a:r>
            <a:endParaRPr lang="en-US" altLang="zh-CN" sz="1000" kern="0" dirty="0">
              <a:solidFill>
                <a:srgbClr val="000000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43" name="直接箭头连接符 42"/>
          <p:cNvCxnSpPr>
            <a:stCxn id="32" idx="2"/>
            <a:endCxn id="39" idx="0"/>
          </p:cNvCxnSpPr>
          <p:nvPr>
            <p:custDataLst>
              <p:tags r:id="rId16"/>
            </p:custDataLst>
          </p:nvPr>
        </p:nvCxnSpPr>
        <p:spPr>
          <a:xfrm>
            <a:off x="3359470" y="2479040"/>
            <a:ext cx="0" cy="318770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sp>
        <p:nvSpPr>
          <p:cNvPr id="44" name="文本框 43"/>
          <p:cNvSpPr txBox="1"/>
          <p:nvPr>
            <p:custDataLst>
              <p:tags r:id="rId17"/>
            </p:custDataLst>
          </p:nvPr>
        </p:nvSpPr>
        <p:spPr>
          <a:xfrm>
            <a:off x="366397" y="4744720"/>
            <a:ext cx="1133475" cy="335280"/>
          </a:xfrm>
          <a:prstGeom prst="rect">
            <a:avLst/>
          </a:prstGeom>
          <a:solidFill>
            <a:srgbClr val="F4CCCC"/>
          </a:solidFill>
          <a:ln w="28575" cap="flat" cmpd="sng">
            <a:solidFill>
              <a:srgbClr val="000000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>
              <a:defRPr lang="zh-CN"/>
            </a:defPPr>
            <a:lvl1pPr algn="ctr" defTabSz="1219200">
              <a:buClr>
                <a:srgbClr val="000000"/>
              </a:buClr>
              <a:defRPr sz="1335" kern="0">
                <a:solidFill>
                  <a:srgbClr val="000000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r>
              <a:rPr lang="en-US" altLang="zh-CN" sz="1000" dirty="0" err="1">
                <a:ea typeface="微软雅黑" panose="020B0503020204020204" charset="-122"/>
              </a:rPr>
              <a:t>rotary_pos_emb</a:t>
            </a:r>
            <a:endParaRPr lang="en-US" altLang="zh-CN" sz="1000" dirty="0" err="1">
              <a:ea typeface="微软雅黑" panose="020B0503020204020204" charset="-122"/>
            </a:endParaRPr>
          </a:p>
        </p:txBody>
      </p:sp>
      <p:sp>
        <p:nvSpPr>
          <p:cNvPr id="45" name="文本框 44"/>
          <p:cNvSpPr txBox="1"/>
          <p:nvPr>
            <p:custDataLst>
              <p:tags r:id="rId18"/>
            </p:custDataLst>
          </p:nvPr>
        </p:nvSpPr>
        <p:spPr>
          <a:xfrm>
            <a:off x="1597985" y="4756166"/>
            <a:ext cx="1133475" cy="335280"/>
          </a:xfrm>
          <a:prstGeom prst="rect">
            <a:avLst/>
          </a:prstGeom>
          <a:solidFill>
            <a:srgbClr val="F4CCCC"/>
          </a:solidFill>
          <a:ln w="28575" cap="flat" cmpd="sng">
            <a:solidFill>
              <a:srgbClr val="000000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>
              <a:defRPr lang="zh-CN"/>
            </a:defPPr>
            <a:lvl1pPr algn="ctr" defTabSz="1219200">
              <a:buClr>
                <a:srgbClr val="000000"/>
              </a:buClr>
              <a:defRPr sz="1335" kern="0">
                <a:solidFill>
                  <a:srgbClr val="000000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r>
              <a:rPr lang="en-US" altLang="zh-CN" sz="1000" dirty="0" err="1">
                <a:ea typeface="微软雅黑" panose="020B0503020204020204" charset="-122"/>
              </a:rPr>
              <a:t>rotary_pos_emb</a:t>
            </a:r>
            <a:endParaRPr lang="en-US" altLang="zh-CN" sz="1000" dirty="0" err="1">
              <a:ea typeface="微软雅黑" panose="020B0503020204020204" charset="-122"/>
            </a:endParaRPr>
          </a:p>
        </p:txBody>
      </p:sp>
      <p:cxnSp>
        <p:nvCxnSpPr>
          <p:cNvPr id="66" name="直接箭头连接符 65"/>
          <p:cNvCxnSpPr/>
          <p:nvPr>
            <p:custDataLst>
              <p:tags r:id="rId19"/>
            </p:custDataLst>
          </p:nvPr>
        </p:nvCxnSpPr>
        <p:spPr>
          <a:xfrm flipH="1">
            <a:off x="3614640" y="3110230"/>
            <a:ext cx="28355" cy="2608899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cxnSp>
        <p:nvCxnSpPr>
          <p:cNvPr id="70" name="直接箭头连接符 69"/>
          <p:cNvCxnSpPr>
            <a:stCxn id="160" idx="1"/>
            <a:endCxn id="25" idx="3"/>
          </p:cNvCxnSpPr>
          <p:nvPr>
            <p:custDataLst>
              <p:tags r:id="rId20"/>
            </p:custDataLst>
          </p:nvPr>
        </p:nvCxnSpPr>
        <p:spPr>
          <a:xfrm flipH="1">
            <a:off x="2754632" y="396465"/>
            <a:ext cx="2324735" cy="398875"/>
          </a:xfrm>
          <a:prstGeom prst="straightConnector1">
            <a:avLst/>
          </a:prstGeom>
          <a:noFill/>
          <a:ln w="28575" cap="flat" cmpd="sng" algn="ctr">
            <a:solidFill>
              <a:srgbClr val="92D050"/>
            </a:solidFill>
            <a:prstDash val="solid"/>
            <a:tailEnd type="arrow"/>
          </a:ln>
          <a:effectLst/>
        </p:spPr>
      </p:cxnSp>
      <p:sp>
        <p:nvSpPr>
          <p:cNvPr id="98" name="Google Shape;6480;p66"/>
          <p:cNvSpPr/>
          <p:nvPr>
            <p:custDataLst>
              <p:tags r:id="rId21"/>
            </p:custDataLst>
          </p:nvPr>
        </p:nvSpPr>
        <p:spPr>
          <a:xfrm>
            <a:off x="363857" y="5471797"/>
            <a:ext cx="1111885" cy="494665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200">
              <a:buClr>
                <a:srgbClr val="000000"/>
              </a:buClr>
            </a:pPr>
            <a:r>
              <a:rPr lang="en-US" altLang="zh-CN" sz="1200" kern="0" dirty="0" err="1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EmbQuery</a:t>
            </a:r>
            <a:r>
              <a:rPr lang="en-US" altLang="zh-CN" sz="1200" kern="0" baseline="-25000" dirty="0">
                <a:solidFill>
                  <a:srgbClr val="FF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(x 32)</a:t>
            </a:r>
            <a:endParaRPr lang="en-US" altLang="zh-CN" sz="1200" kern="0" dirty="0">
              <a:solidFill>
                <a:srgbClr val="000000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  <a:p>
            <a:pPr algn="ctr" defTabSz="1219200">
              <a:buClr>
                <a:srgbClr val="000000"/>
              </a:buClr>
            </a:pPr>
            <a:r>
              <a:rPr lang="en-US" altLang="zh-CN" sz="1200" kern="0" dirty="0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[19,1,128]</a:t>
            </a:r>
            <a:endParaRPr lang="en-US" altLang="zh-CN" sz="1200" kern="0" dirty="0">
              <a:solidFill>
                <a:srgbClr val="000000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</p:txBody>
      </p:sp>
      <p:sp>
        <p:nvSpPr>
          <p:cNvPr id="99" name="Google Shape;6480;p66"/>
          <p:cNvSpPr/>
          <p:nvPr>
            <p:custDataLst>
              <p:tags r:id="rId22"/>
            </p:custDataLst>
          </p:nvPr>
        </p:nvSpPr>
        <p:spPr>
          <a:xfrm>
            <a:off x="1614012" y="5460983"/>
            <a:ext cx="1111885" cy="494665"/>
          </a:xfrm>
          <a:prstGeom prst="rect">
            <a:avLst/>
          </a:prstGeom>
          <a:solidFill>
            <a:srgbClr val="00B0F0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200">
              <a:buClr>
                <a:srgbClr val="000000"/>
              </a:buClr>
            </a:pPr>
            <a:r>
              <a:rPr lang="en-US" altLang="zh-CN" sz="1200" kern="0" dirty="0" err="1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Emb_Key</a:t>
            </a:r>
            <a:r>
              <a:rPr lang="en-US" altLang="zh-CN" sz="1200" kern="0" baseline="-25000" dirty="0">
                <a:solidFill>
                  <a:srgbClr val="FF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(x 8)</a:t>
            </a:r>
            <a:endParaRPr lang="en-US" altLang="zh-CN" sz="1200" kern="0" dirty="0">
              <a:solidFill>
                <a:srgbClr val="000000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  <a:p>
            <a:pPr algn="ctr" defTabSz="1219200">
              <a:buClr>
                <a:srgbClr val="000000"/>
              </a:buClr>
            </a:pPr>
            <a:r>
              <a:rPr lang="en-US" altLang="zh-CN" sz="1200" kern="0" dirty="0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[19,1,128]</a:t>
            </a:r>
            <a:endParaRPr lang="en-US" altLang="zh-CN" sz="1200" kern="0" dirty="0">
              <a:solidFill>
                <a:srgbClr val="000000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</p:txBody>
      </p:sp>
      <p:sp>
        <p:nvSpPr>
          <p:cNvPr id="138" name="Google Shape;6480;p66"/>
          <p:cNvSpPr/>
          <p:nvPr>
            <p:custDataLst>
              <p:tags r:id="rId23"/>
            </p:custDataLst>
          </p:nvPr>
        </p:nvSpPr>
        <p:spPr>
          <a:xfrm>
            <a:off x="849632" y="9246870"/>
            <a:ext cx="1459865" cy="37719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200">
              <a:buClr>
                <a:srgbClr val="000000"/>
              </a:buClr>
            </a:pPr>
            <a:r>
              <a:rPr lang="en-US" altLang="zh-CN" sz="1200" kern="0" dirty="0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scores </a:t>
            </a:r>
            <a:r>
              <a:rPr lang="en-US" altLang="zh-CN" sz="1200" kern="0" baseline="-25000" dirty="0">
                <a:solidFill>
                  <a:srgbClr val="FF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(x 32)</a:t>
            </a:r>
            <a:endParaRPr lang="en-US" altLang="zh-CN" sz="1200" kern="0" dirty="0">
              <a:solidFill>
                <a:srgbClr val="000000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  <a:p>
            <a:pPr algn="ctr" defTabSz="1219200">
              <a:buClr>
                <a:srgbClr val="000000"/>
              </a:buClr>
            </a:pPr>
            <a:r>
              <a:rPr lang="en-US" altLang="zh-CN" sz="1200" kern="0" dirty="0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[19</a:t>
            </a:r>
            <a:r>
              <a:rPr lang="zh-CN" altLang="en-US" sz="1200" kern="0" dirty="0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，</a:t>
            </a:r>
            <a:r>
              <a:rPr lang="en-US" altLang="zh-CN" sz="1200" kern="0" dirty="0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19]</a:t>
            </a:r>
            <a:endParaRPr lang="en-US" altLang="zh-CN" sz="1200" kern="0" dirty="0">
              <a:solidFill>
                <a:srgbClr val="000000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43" name="直接箭头连接符 142"/>
          <p:cNvCxnSpPr/>
          <p:nvPr>
            <p:custDataLst>
              <p:tags r:id="rId24"/>
            </p:custDataLst>
          </p:nvPr>
        </p:nvCxnSpPr>
        <p:spPr>
          <a:xfrm>
            <a:off x="1579245" y="8982710"/>
            <a:ext cx="0" cy="264160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sp>
        <p:nvSpPr>
          <p:cNvPr id="144" name="文本框 143"/>
          <p:cNvSpPr txBox="1"/>
          <p:nvPr>
            <p:custDataLst>
              <p:tags r:id="rId25"/>
            </p:custDataLst>
          </p:nvPr>
        </p:nvSpPr>
        <p:spPr>
          <a:xfrm>
            <a:off x="841377" y="8779510"/>
            <a:ext cx="1487805" cy="33528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>
              <a:defRPr lang="zh-CN"/>
            </a:defPPr>
            <a:lvl1pPr algn="ctr" defTabSz="1219200">
              <a:buClr>
                <a:srgbClr val="000000"/>
              </a:buClr>
              <a:defRPr sz="1335" kern="0">
                <a:solidFill>
                  <a:srgbClr val="000000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r>
              <a:rPr lang="en-US" altLang="zh-CN" sz="1200" dirty="0" err="1">
                <a:ea typeface="微软雅黑" panose="020B0503020204020204" charset="-122"/>
                <a:sym typeface="+mn-ea"/>
              </a:rPr>
              <a:t>Softmax</a:t>
            </a:r>
            <a:endParaRPr lang="en-US" altLang="zh-CN" sz="1200" dirty="0" err="1">
              <a:ea typeface="微软雅黑" panose="020B0503020204020204" charset="-122"/>
              <a:sym typeface="+mn-ea"/>
            </a:endParaRPr>
          </a:p>
        </p:txBody>
      </p:sp>
      <p:cxnSp>
        <p:nvCxnSpPr>
          <p:cNvPr id="154" name="直接箭头连接符 153"/>
          <p:cNvCxnSpPr>
            <a:stCxn id="10" idx="2"/>
            <a:endCxn id="144" idx="0"/>
          </p:cNvCxnSpPr>
          <p:nvPr>
            <p:custDataLst>
              <p:tags r:id="rId26"/>
            </p:custDataLst>
          </p:nvPr>
        </p:nvCxnSpPr>
        <p:spPr>
          <a:xfrm flipH="1">
            <a:off x="1585595" y="8371840"/>
            <a:ext cx="0" cy="407670"/>
          </a:xfrm>
          <a:prstGeom prst="straightConnector1">
            <a:avLst/>
          </a:prstGeom>
          <a:noFill/>
          <a:ln w="28575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sp>
        <p:nvSpPr>
          <p:cNvPr id="157" name="文本框 156"/>
          <p:cNvSpPr txBox="1"/>
          <p:nvPr>
            <p:custDataLst>
              <p:tags r:id="rId27"/>
            </p:custDataLst>
          </p:nvPr>
        </p:nvSpPr>
        <p:spPr>
          <a:xfrm>
            <a:off x="855346" y="7018639"/>
            <a:ext cx="1459865" cy="464185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>
              <a:defRPr lang="zh-CN"/>
            </a:defPPr>
            <a:lvl1pPr algn="ctr" defTabSz="1219200">
              <a:buClr>
                <a:srgbClr val="000000"/>
              </a:buClr>
              <a:defRPr sz="1335" kern="0">
                <a:solidFill>
                  <a:srgbClr val="000000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r>
              <a:rPr lang="en-US" altLang="zh-CN" sz="1200" dirty="0">
                <a:ea typeface="微软雅黑" panose="020B0503020204020204" charset="-122"/>
              </a:rPr>
              <a:t>MVM_after_TRP</a:t>
            </a:r>
            <a:endParaRPr lang="en-US" altLang="zh-CN" sz="1200" dirty="0">
              <a:ea typeface="微软雅黑" panose="020B0503020204020204" charset="-122"/>
              <a:sym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-46355" y="72390"/>
            <a:ext cx="13227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altLang="zh-CN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</a:rPr>
              <a:t>A</a:t>
            </a:r>
            <a:r>
              <a:rPr lang="en-US" altLang="zh-CN" sz="1400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</a:rPr>
              <a:t> [128,4096]</a:t>
            </a:r>
            <a:endParaRPr lang="en-US" altLang="zh-CN" sz="1400">
              <a:solidFill>
                <a:prstClr val="black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28"/>
            </p:custDataLst>
          </p:nvPr>
        </p:nvSpPr>
        <p:spPr>
          <a:xfrm>
            <a:off x="-36195" y="1136650"/>
            <a:ext cx="13119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altLang="zh-CN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</a:rPr>
              <a:t>B </a:t>
            </a:r>
            <a:r>
              <a:rPr lang="en-US" altLang="zh-CN" sz="1400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  <a:sym typeface="+mn-ea"/>
              </a:rPr>
              <a:t>[128,4096]</a:t>
            </a:r>
            <a:endParaRPr lang="en-US" altLang="zh-CN" sz="1400">
              <a:solidFill>
                <a:prstClr val="black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9"/>
            </p:custDataLst>
          </p:nvPr>
        </p:nvSpPr>
        <p:spPr>
          <a:xfrm>
            <a:off x="-17145" y="2665730"/>
            <a:ext cx="2876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altLang="zh-CN" dirty="0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</a:rPr>
              <a:t>C</a:t>
            </a:r>
            <a:endParaRPr lang="en-US" altLang="zh-CN" dirty="0">
              <a:solidFill>
                <a:prstClr val="black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30"/>
            </p:custDataLst>
          </p:nvPr>
        </p:nvSpPr>
        <p:spPr>
          <a:xfrm>
            <a:off x="-17145" y="3883025"/>
            <a:ext cx="2876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altLang="zh-CN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</a:rPr>
              <a:t>D</a:t>
            </a:r>
            <a:endParaRPr lang="en-US" altLang="zh-CN">
              <a:solidFill>
                <a:prstClr val="black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31"/>
            </p:custDataLst>
          </p:nvPr>
        </p:nvSpPr>
        <p:spPr>
          <a:xfrm>
            <a:off x="-46990" y="8228965"/>
            <a:ext cx="2876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altLang="zh-CN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</a:rPr>
              <a:t>E</a:t>
            </a:r>
            <a:endParaRPr lang="en-US" altLang="zh-CN">
              <a:solidFill>
                <a:prstClr val="black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32"/>
            </p:custDataLst>
          </p:nvPr>
        </p:nvSpPr>
        <p:spPr>
          <a:xfrm>
            <a:off x="-37465" y="9246870"/>
            <a:ext cx="2876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altLang="zh-CN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</a:rPr>
              <a:t>F</a:t>
            </a:r>
            <a:endParaRPr lang="en-US" altLang="zh-CN">
              <a:solidFill>
                <a:prstClr val="black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0" name="Google Shape;6480;p66"/>
          <p:cNvSpPr/>
          <p:nvPr>
            <p:custDataLst>
              <p:tags r:id="rId33"/>
            </p:custDataLst>
          </p:nvPr>
        </p:nvSpPr>
        <p:spPr>
          <a:xfrm>
            <a:off x="869950" y="7960997"/>
            <a:ext cx="1459230" cy="410845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200">
              <a:buClr>
                <a:srgbClr val="000000"/>
              </a:buClr>
            </a:pPr>
            <a:r>
              <a:rPr lang="en-US" altLang="zh-CN" sz="1200" kern="0" dirty="0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scores </a:t>
            </a:r>
            <a:r>
              <a:rPr lang="en-US" altLang="zh-CN" sz="1200" kern="0" baseline="-25000" dirty="0">
                <a:solidFill>
                  <a:srgbClr val="FF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(x 32)</a:t>
            </a:r>
            <a:endParaRPr lang="en-US" altLang="zh-CN" sz="1200" kern="0" dirty="0">
              <a:solidFill>
                <a:srgbClr val="000000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  <a:p>
            <a:pPr algn="ctr" defTabSz="1219200">
              <a:buClr>
                <a:srgbClr val="000000"/>
              </a:buClr>
            </a:pPr>
            <a:r>
              <a:rPr lang="en-US" altLang="zh-CN" sz="1200" kern="0" dirty="0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[19, 19]</a:t>
            </a:r>
            <a:endParaRPr lang="en-US" altLang="zh-CN" sz="1200" kern="0" dirty="0">
              <a:solidFill>
                <a:srgbClr val="000000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</p:txBody>
      </p:sp>
      <p:sp>
        <p:nvSpPr>
          <p:cNvPr id="160" name="文本框 159"/>
          <p:cNvSpPr txBox="1"/>
          <p:nvPr>
            <p:custDataLst>
              <p:tags r:id="rId34"/>
            </p:custDataLst>
          </p:nvPr>
        </p:nvSpPr>
        <p:spPr>
          <a:xfrm>
            <a:off x="5079367" y="27847"/>
            <a:ext cx="1577975" cy="737235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 defTabSz="914400"/>
            <a:r>
              <a:rPr lang="en-US" altLang="zh-CN" sz="1400" dirty="0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</a:rPr>
              <a:t>step-1</a:t>
            </a:r>
            <a:r>
              <a:rPr lang="zh-CN" altLang="en-US" sz="1400" dirty="0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</a:rPr>
              <a:t>：</a:t>
            </a:r>
            <a:r>
              <a:rPr lang="en-US" altLang="zh-CN" sz="1400" dirty="0">
                <a:solidFill>
                  <a:srgbClr val="FF0000"/>
                </a:solidFill>
                <a:latin typeface="Arial" panose="020B0604020202020204"/>
                <a:ea typeface="微软雅黑" panose="020B0503020204020204" charset="-122"/>
                <a:sym typeface="+mn-ea"/>
              </a:rPr>
              <a:t>LN0</a:t>
            </a:r>
            <a:endParaRPr lang="en-US" altLang="zh-CN" sz="1400" dirty="0">
              <a:solidFill>
                <a:prstClr val="black"/>
              </a:solidFill>
              <a:latin typeface="Arial" panose="020B0604020202020204"/>
              <a:ea typeface="微软雅黑" panose="020B0503020204020204" charset="-122"/>
              <a:sym typeface="+mn-ea"/>
            </a:endParaRPr>
          </a:p>
          <a:p>
            <a:pPr algn="ctr" defTabSz="914400"/>
            <a:endParaRPr lang="en-US" altLang="zh-CN" sz="1400" dirty="0">
              <a:solidFill>
                <a:prstClr val="black"/>
              </a:solidFill>
              <a:latin typeface="Arial" panose="020B0604020202020204"/>
              <a:ea typeface="微软雅黑" panose="020B0503020204020204" charset="-122"/>
              <a:sym typeface="+mn-ea"/>
            </a:endParaRPr>
          </a:p>
          <a:p>
            <a:pPr algn="ctr" defTabSz="914400"/>
            <a:r>
              <a:rPr lang="en-US" altLang="zh-CN" sz="1400" dirty="0" err="1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  <a:sym typeface="+mn-ea"/>
              </a:rPr>
              <a:t>RMSNorm</a:t>
            </a:r>
            <a:endParaRPr lang="en-US" altLang="zh-CN" sz="1400" dirty="0">
              <a:solidFill>
                <a:prstClr val="black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cxnSp>
        <p:nvCxnSpPr>
          <p:cNvPr id="14" name="直接箭头连接符 13"/>
          <p:cNvCxnSpPr>
            <a:stCxn id="15" idx="1"/>
            <a:endCxn id="32" idx="3"/>
          </p:cNvCxnSpPr>
          <p:nvPr>
            <p:custDataLst>
              <p:tags r:id="rId35"/>
            </p:custDataLst>
          </p:nvPr>
        </p:nvCxnSpPr>
        <p:spPr>
          <a:xfrm flipH="1" flipV="1">
            <a:off x="3926207" y="2173605"/>
            <a:ext cx="1151933" cy="2929693"/>
          </a:xfrm>
          <a:prstGeom prst="straightConnector1">
            <a:avLst/>
          </a:prstGeom>
          <a:noFill/>
          <a:ln w="28575" cap="flat" cmpd="sng" algn="ctr">
            <a:solidFill>
              <a:srgbClr val="92D050"/>
            </a:solidFill>
            <a:prstDash val="solid"/>
            <a:tailEnd type="arrow"/>
          </a:ln>
          <a:effectLst/>
        </p:spPr>
      </p:cxnSp>
      <p:sp>
        <p:nvSpPr>
          <p:cNvPr id="15" name="文本框 14"/>
          <p:cNvSpPr txBox="1"/>
          <p:nvPr>
            <p:custDataLst>
              <p:tags r:id="rId36"/>
            </p:custDataLst>
          </p:nvPr>
        </p:nvSpPr>
        <p:spPr>
          <a:xfrm>
            <a:off x="5078140" y="4626244"/>
            <a:ext cx="1577975" cy="954107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 defTabSz="914400"/>
            <a:r>
              <a:rPr lang="en-US" altLang="zh-CN" sz="1400" dirty="0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</a:rPr>
              <a:t>step-9</a:t>
            </a:r>
            <a:r>
              <a:rPr lang="zh-CN" altLang="en-US" sz="1400" dirty="0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</a:rPr>
              <a:t>：</a:t>
            </a:r>
            <a:r>
              <a:rPr lang="en-US" altLang="zh-CN" sz="1400" dirty="0">
                <a:solidFill>
                  <a:srgbClr val="FF0000"/>
                </a:solidFill>
                <a:latin typeface="Arial" panose="020B0604020202020204"/>
                <a:ea typeface="微软雅黑" panose="020B0503020204020204" charset="-122"/>
                <a:sym typeface="+mn-ea"/>
              </a:rPr>
              <a:t>MVMBN0(V)</a:t>
            </a:r>
            <a:endParaRPr lang="en-US" altLang="zh-CN" sz="1400" dirty="0">
              <a:solidFill>
                <a:prstClr val="black"/>
              </a:solidFill>
              <a:latin typeface="Arial" panose="020B0604020202020204"/>
              <a:ea typeface="微软雅黑" panose="020B0503020204020204" charset="-122"/>
              <a:sym typeface="+mn-ea"/>
            </a:endParaRPr>
          </a:p>
          <a:p>
            <a:pPr algn="ctr" defTabSz="914400"/>
            <a:r>
              <a:rPr lang="en-US" altLang="zh-CN" sz="1400" dirty="0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  <a:sym typeface="+mn-ea"/>
              </a:rPr>
              <a:t>32</a:t>
            </a:r>
            <a:r>
              <a:rPr lang="zh-CN" altLang="en-US" sz="1400" dirty="0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  <a:sym typeface="+mn-ea"/>
              </a:rPr>
              <a:t>个</a:t>
            </a:r>
            <a:r>
              <a:rPr lang="en-US" altLang="zh-CN" sz="1400" dirty="0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  <a:sym typeface="+mn-ea"/>
              </a:rPr>
              <a:t>head</a:t>
            </a:r>
            <a:r>
              <a:rPr lang="zh-CN" altLang="en-US" sz="1400" dirty="0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  <a:sym typeface="+mn-ea"/>
              </a:rPr>
              <a:t>一起</a:t>
            </a:r>
            <a:endParaRPr lang="zh-CN" altLang="en-US" sz="1400" dirty="0">
              <a:solidFill>
                <a:prstClr val="black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ctr" defTabSz="914400"/>
            <a:endParaRPr lang="en-US" altLang="zh-CN" sz="1400" dirty="0">
              <a:solidFill>
                <a:prstClr val="black"/>
              </a:solidFill>
              <a:latin typeface="Arial" panose="020B0604020202020204"/>
              <a:ea typeface="微软雅黑" panose="020B0503020204020204" charset="-122"/>
              <a:sym typeface="+mn-ea"/>
            </a:endParaRPr>
          </a:p>
        </p:txBody>
      </p:sp>
      <p:sp>
        <p:nvSpPr>
          <p:cNvPr id="16" name="椭圆 15"/>
          <p:cNvSpPr/>
          <p:nvPr>
            <p:custDataLst>
              <p:tags r:id="rId37"/>
            </p:custDataLst>
          </p:nvPr>
        </p:nvSpPr>
        <p:spPr>
          <a:xfrm>
            <a:off x="1571226" y="1781290"/>
            <a:ext cx="1159828" cy="790575"/>
          </a:xfrm>
          <a:prstGeom prst="ellipse">
            <a:avLst/>
          </a:prstGeom>
          <a:noFill/>
          <a:ln w="38100" cap="flat" cmpd="sng" algn="ctr">
            <a:solidFill>
              <a:srgbClr val="92D050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AB40"/>
                </a:solidFill>
              </a14:hiddenFill>
            </a:ext>
          </a:extLst>
        </p:spPr>
        <p:txBody>
          <a:bodyPr rtlCol="0" anchor="ctr"/>
          <a:lstStyle/>
          <a:p>
            <a:pPr algn="ctr" defTabSz="914400"/>
            <a:endParaRPr lang="zh-CN" altLang="en-US" sz="1600">
              <a:solidFill>
                <a:srgbClr val="FFFF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38"/>
            </p:custDataLst>
          </p:nvPr>
        </p:nvSpPr>
        <p:spPr>
          <a:xfrm>
            <a:off x="5067589" y="2587521"/>
            <a:ext cx="1577975" cy="1168400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 defTabSz="914400"/>
            <a:r>
              <a:rPr lang="en-US" altLang="zh-CN" sz="1400" dirty="0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</a:rPr>
              <a:t>step-5</a:t>
            </a:r>
            <a:r>
              <a:rPr lang="zh-CN" altLang="en-US" sz="1400" dirty="0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</a:rPr>
              <a:t>：</a:t>
            </a:r>
            <a:r>
              <a:rPr lang="en-US" altLang="zh-CN" sz="1400" dirty="0">
                <a:solidFill>
                  <a:srgbClr val="FF0000"/>
                </a:solidFill>
                <a:latin typeface="Arial" panose="020B0604020202020204"/>
                <a:ea typeface="微软雅黑" panose="020B0503020204020204" charset="-122"/>
              </a:rPr>
              <a:t>EMB(K)</a:t>
            </a:r>
            <a:endParaRPr lang="en-US" altLang="zh-CN" sz="1400" dirty="0">
              <a:solidFill>
                <a:prstClr val="black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ctr" defTabSz="914400"/>
            <a:r>
              <a:rPr lang="en-US" altLang="zh-CN" sz="1400" dirty="0" err="1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  <a:sym typeface="+mn-ea"/>
              </a:rPr>
              <a:t>Pos_EMB</a:t>
            </a:r>
            <a:endParaRPr lang="en-US" altLang="zh-CN" sz="1400" dirty="0">
              <a:solidFill>
                <a:prstClr val="black"/>
              </a:solidFill>
              <a:latin typeface="Arial" panose="020B0604020202020204"/>
              <a:ea typeface="微软雅黑" panose="020B0503020204020204" charset="-122"/>
              <a:sym typeface="+mn-ea"/>
            </a:endParaRPr>
          </a:p>
          <a:p>
            <a:pPr algn="ctr" defTabSz="914400"/>
            <a:r>
              <a:rPr lang="en-US" altLang="zh-CN" sz="1400" dirty="0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</a:rPr>
              <a:t>32</a:t>
            </a:r>
            <a:r>
              <a:rPr lang="zh-CN" altLang="en-US" sz="1400" dirty="0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</a:rPr>
              <a:t>个</a:t>
            </a:r>
            <a:r>
              <a:rPr lang="en-US" altLang="zh-CN" sz="1400" dirty="0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</a:rPr>
              <a:t>head</a:t>
            </a:r>
            <a:r>
              <a:rPr lang="zh-CN" altLang="en-US" sz="1400" dirty="0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</a:rPr>
              <a:t>一起</a:t>
            </a:r>
            <a:endParaRPr lang="zh-CN" altLang="en-US" sz="1400" dirty="0">
              <a:solidFill>
                <a:prstClr val="black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ctr" defTabSz="914400"/>
            <a:endParaRPr lang="zh-CN" altLang="en-US" sz="1400" dirty="0">
              <a:solidFill>
                <a:prstClr val="black"/>
              </a:solidFill>
              <a:latin typeface="Arial" panose="020B0604020202020204"/>
              <a:ea typeface="微软雅黑" panose="020B0503020204020204" charset="-122"/>
              <a:sym typeface="+mn-ea"/>
            </a:endParaRPr>
          </a:p>
          <a:p>
            <a:pPr algn="ctr" defTabSz="914400"/>
            <a:r>
              <a:rPr lang="zh-CN" altLang="en-US" sz="1400" dirty="0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  <a:sym typeface="+mn-ea"/>
              </a:rPr>
              <a:t>执行</a:t>
            </a:r>
            <a:r>
              <a:rPr lang="en-US" altLang="zh-CN" sz="1400" dirty="0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  <a:sym typeface="+mn-ea"/>
              </a:rPr>
              <a:t>1</a:t>
            </a:r>
            <a:r>
              <a:rPr lang="zh-CN" altLang="en-US" sz="1400" dirty="0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  <a:sym typeface="+mn-ea"/>
              </a:rPr>
              <a:t>次</a:t>
            </a:r>
            <a:endParaRPr lang="en-US" altLang="zh-CN" sz="1400" dirty="0">
              <a:solidFill>
                <a:prstClr val="black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cxnSp>
        <p:nvCxnSpPr>
          <p:cNvPr id="18" name="直接箭头连接符 17"/>
          <p:cNvCxnSpPr>
            <a:stCxn id="17" idx="1"/>
            <a:endCxn id="62" idx="6"/>
          </p:cNvCxnSpPr>
          <p:nvPr>
            <p:custDataLst>
              <p:tags r:id="rId39"/>
            </p:custDataLst>
          </p:nvPr>
        </p:nvCxnSpPr>
        <p:spPr>
          <a:xfrm flipH="1">
            <a:off x="2758130" y="3171721"/>
            <a:ext cx="2309459" cy="1751770"/>
          </a:xfrm>
          <a:prstGeom prst="straightConnector1">
            <a:avLst/>
          </a:prstGeom>
          <a:noFill/>
          <a:ln w="19050" cap="flat" cmpd="sng" algn="ctr">
            <a:solidFill>
              <a:srgbClr val="92D050"/>
            </a:solidFill>
            <a:prstDash val="solid"/>
            <a:tailEnd type="arrow"/>
          </a:ln>
          <a:effectLst/>
        </p:spPr>
      </p:cxnSp>
      <p:sp>
        <p:nvSpPr>
          <p:cNvPr id="19" name="灯片编号占位符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400"/>
            <a:fld id="{49AE70B2-8BF9-45C0-BB95-33D1B9D3A854}" type="slidenum">
              <a:rPr lang="zh-CN" altLang="en-US">
                <a:solidFill>
                  <a:prstClr val="black">
                    <a:tint val="75000"/>
                  </a:prstClr>
                </a:solidFill>
                <a:latin typeface="Arial" panose="020B0604020202020204"/>
                <a:ea typeface="微软雅黑" panose="020B0503020204020204" charset="-122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20" name="Google Shape;6480;p66"/>
          <p:cNvSpPr/>
          <p:nvPr>
            <p:custDataLst>
              <p:tags r:id="rId40"/>
            </p:custDataLst>
          </p:nvPr>
        </p:nvSpPr>
        <p:spPr>
          <a:xfrm>
            <a:off x="2712085" y="8493127"/>
            <a:ext cx="1399540" cy="410845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200">
              <a:buClr>
                <a:srgbClr val="000000"/>
              </a:buClr>
            </a:pPr>
            <a:r>
              <a:rPr lang="en-US" altLang="zh-CN" sz="1200" kern="0" dirty="0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MVM_after_F2W</a:t>
            </a:r>
            <a:endParaRPr lang="en-US" altLang="zh-CN" sz="1200" kern="0" dirty="0">
              <a:solidFill>
                <a:srgbClr val="000000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22" name="连接符: 肘形 38"/>
          <p:cNvCxnSpPr>
            <a:endCxn id="20" idx="0"/>
          </p:cNvCxnSpPr>
          <p:nvPr>
            <p:custDataLst>
              <p:tags r:id="rId41"/>
            </p:custDataLst>
          </p:nvPr>
        </p:nvCxnSpPr>
        <p:spPr>
          <a:xfrm flipV="1">
            <a:off x="2309495" y="8493125"/>
            <a:ext cx="1102360" cy="942340"/>
          </a:xfrm>
          <a:prstGeom prst="bentConnector4">
            <a:avLst>
              <a:gd name="adj1" fmla="val 18260"/>
              <a:gd name="adj2" fmla="val 125270"/>
            </a:avLst>
          </a:prstGeom>
          <a:noFill/>
          <a:ln w="9525" cap="flat" cmpd="sng" algn="ctr">
            <a:solidFill>
              <a:srgbClr val="FFAB40"/>
            </a:solidFill>
            <a:prstDash val="solid"/>
            <a:tailEnd type="triangle"/>
          </a:ln>
          <a:effectLst/>
        </p:spPr>
      </p:cxnSp>
      <p:sp>
        <p:nvSpPr>
          <p:cNvPr id="48" name="文本框 47"/>
          <p:cNvSpPr txBox="1"/>
          <p:nvPr>
            <p:custDataLst>
              <p:tags r:id="rId42"/>
            </p:custDataLst>
          </p:nvPr>
        </p:nvSpPr>
        <p:spPr>
          <a:xfrm>
            <a:off x="4290697" y="9289415"/>
            <a:ext cx="2876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altLang="zh-CN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</a:rPr>
              <a:t>G</a:t>
            </a:r>
            <a:endParaRPr lang="en-US" altLang="zh-CN">
              <a:solidFill>
                <a:prstClr val="black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59" name="Google Shape;6480;p66"/>
          <p:cNvSpPr/>
          <p:nvPr>
            <p:custDataLst>
              <p:tags r:id="rId43"/>
            </p:custDataLst>
          </p:nvPr>
        </p:nvSpPr>
        <p:spPr>
          <a:xfrm>
            <a:off x="2716530" y="9246872"/>
            <a:ext cx="1399540" cy="410845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200">
              <a:buClr>
                <a:srgbClr val="000000"/>
              </a:buClr>
            </a:pPr>
            <a:r>
              <a:rPr lang="en-US" altLang="zh-CN" sz="1200" kern="0" dirty="0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Attention out </a:t>
            </a:r>
            <a:r>
              <a:rPr lang="en-US" altLang="zh-CN" sz="1200" kern="0" baseline="-25000" dirty="0">
                <a:solidFill>
                  <a:srgbClr val="FF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(x 32)</a:t>
            </a:r>
            <a:endParaRPr lang="en-US" altLang="zh-CN" sz="1200" kern="0" dirty="0">
              <a:solidFill>
                <a:srgbClr val="000000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  <a:p>
            <a:pPr algn="ctr" defTabSz="1219200">
              <a:buClr>
                <a:srgbClr val="000000"/>
              </a:buClr>
            </a:pPr>
            <a:r>
              <a:rPr lang="en-US" altLang="zh-CN" sz="1200" kern="0" dirty="0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[19,128]</a:t>
            </a:r>
            <a:endParaRPr lang="en-US" altLang="zh-CN" sz="1200" kern="0" dirty="0">
              <a:solidFill>
                <a:srgbClr val="000000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61" name="直接箭头连接符 60"/>
          <p:cNvCxnSpPr>
            <a:stCxn id="20" idx="2"/>
            <a:endCxn id="59" idx="0"/>
          </p:cNvCxnSpPr>
          <p:nvPr>
            <p:custDataLst>
              <p:tags r:id="rId44"/>
            </p:custDataLst>
          </p:nvPr>
        </p:nvCxnSpPr>
        <p:spPr>
          <a:xfrm>
            <a:off x="3411857" y="8903970"/>
            <a:ext cx="4445" cy="342900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sp>
        <p:nvSpPr>
          <p:cNvPr id="31" name="椭圆 30"/>
          <p:cNvSpPr/>
          <p:nvPr>
            <p:custDataLst>
              <p:tags r:id="rId45"/>
            </p:custDataLst>
          </p:nvPr>
        </p:nvSpPr>
        <p:spPr>
          <a:xfrm>
            <a:off x="732155" y="6902114"/>
            <a:ext cx="1734820" cy="799705"/>
          </a:xfrm>
          <a:prstGeom prst="ellipse">
            <a:avLst/>
          </a:prstGeom>
          <a:noFill/>
          <a:ln w="38100" cap="flat" cmpd="sng" algn="ctr">
            <a:solidFill>
              <a:srgbClr val="92D050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AB40"/>
                </a:solidFill>
              </a14:hiddenFill>
            </a:ext>
          </a:extLst>
        </p:spPr>
        <p:txBody>
          <a:bodyPr rtlCol="0" anchor="ctr"/>
          <a:lstStyle/>
          <a:p>
            <a:pPr algn="ctr" defTabSz="914400"/>
            <a:endParaRPr lang="zh-CN" altLang="en-US" sz="1600">
              <a:solidFill>
                <a:srgbClr val="FFFF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38" name="直接箭头连接符 37"/>
          <p:cNvCxnSpPr>
            <a:stCxn id="40" idx="3"/>
            <a:endCxn id="31" idx="2"/>
          </p:cNvCxnSpPr>
          <p:nvPr>
            <p:custDataLst>
              <p:tags r:id="rId46"/>
            </p:custDataLst>
          </p:nvPr>
        </p:nvCxnSpPr>
        <p:spPr>
          <a:xfrm>
            <a:off x="-457805" y="6778031"/>
            <a:ext cx="1189960" cy="523936"/>
          </a:xfrm>
          <a:prstGeom prst="straightConnector1">
            <a:avLst/>
          </a:prstGeom>
          <a:noFill/>
          <a:ln w="28575" cap="flat" cmpd="sng" algn="ctr">
            <a:solidFill>
              <a:srgbClr val="92D050"/>
            </a:solidFill>
            <a:prstDash val="solid"/>
            <a:tailEnd type="arrow"/>
          </a:ln>
          <a:effectLst/>
        </p:spPr>
      </p:cxnSp>
      <p:sp>
        <p:nvSpPr>
          <p:cNvPr id="40" name="文本框 39"/>
          <p:cNvSpPr txBox="1"/>
          <p:nvPr>
            <p:custDataLst>
              <p:tags r:id="rId47"/>
            </p:custDataLst>
          </p:nvPr>
        </p:nvSpPr>
        <p:spPr>
          <a:xfrm>
            <a:off x="-2035780" y="5870090"/>
            <a:ext cx="1577975" cy="1815882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 defTabSz="914400"/>
            <a:r>
              <a:rPr lang="en-US" altLang="zh-CN" sz="1400" dirty="0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</a:rPr>
              <a:t>step-7</a:t>
            </a:r>
            <a:r>
              <a:rPr lang="zh-CN" altLang="en-US" sz="1400" dirty="0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</a:rPr>
              <a:t>：</a:t>
            </a:r>
            <a:r>
              <a:rPr lang="en-US" altLang="zh-CN" sz="1400" dirty="0">
                <a:solidFill>
                  <a:srgbClr val="FF0000"/>
                </a:solidFill>
                <a:latin typeface="Arial" panose="020B0604020202020204"/>
                <a:ea typeface="微软雅黑" panose="020B0503020204020204" charset="-122"/>
              </a:rPr>
              <a:t>TRP</a:t>
            </a:r>
            <a:endParaRPr lang="en-US" altLang="zh-CN" sz="1400" dirty="0">
              <a:solidFill>
                <a:prstClr val="black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ctr" defTabSz="914400"/>
            <a:r>
              <a:rPr lang="en-US" altLang="zh-CN" sz="1400" dirty="0" err="1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  <a:sym typeface="+mn-ea"/>
              </a:rPr>
              <a:t>MVM_after_TRP</a:t>
            </a:r>
            <a:endParaRPr lang="en-US" altLang="zh-CN" sz="1400" dirty="0">
              <a:solidFill>
                <a:prstClr val="black"/>
              </a:solidFill>
              <a:latin typeface="Arial" panose="020B0604020202020204"/>
              <a:ea typeface="微软雅黑" panose="020B0503020204020204" charset="-122"/>
              <a:sym typeface="+mn-ea"/>
            </a:endParaRPr>
          </a:p>
          <a:p>
            <a:pPr algn="ctr" defTabSz="914400"/>
            <a:r>
              <a:rPr lang="en-US" altLang="zh-CN" sz="1400" dirty="0" err="1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</a:rPr>
              <a:t>rsqrt</a:t>
            </a:r>
            <a:r>
              <a:rPr lang="zh-CN" altLang="en-US" sz="1400" dirty="0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</a:rPr>
              <a:t>为定值，用寄存器配置送入</a:t>
            </a:r>
            <a:endParaRPr lang="zh-CN" altLang="en-US" sz="1400" dirty="0">
              <a:solidFill>
                <a:prstClr val="black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ctr" defTabSz="914400"/>
            <a:endParaRPr lang="en-US" altLang="zh-CN" sz="1400" dirty="0">
              <a:solidFill>
                <a:prstClr val="black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ctr" defTabSz="914400"/>
            <a:r>
              <a:rPr lang="en-US" altLang="zh-CN" sz="1400" dirty="0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  <a:sym typeface="+mn-ea"/>
              </a:rPr>
              <a:t>32</a:t>
            </a:r>
            <a:r>
              <a:rPr lang="zh-CN" altLang="en-US" sz="1400" dirty="0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  <a:sym typeface="+mn-ea"/>
              </a:rPr>
              <a:t>个</a:t>
            </a:r>
            <a:r>
              <a:rPr lang="en-US" altLang="zh-CN" sz="1400" dirty="0" err="1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  <a:sym typeface="+mn-ea"/>
              </a:rPr>
              <a:t>feature_head</a:t>
            </a:r>
            <a:r>
              <a:rPr lang="zh-CN" altLang="en-US" sz="1400" dirty="0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  <a:sym typeface="+mn-ea"/>
              </a:rPr>
              <a:t>一起</a:t>
            </a:r>
            <a:r>
              <a:rPr lang="en-US" altLang="zh-CN" sz="1400" dirty="0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  <a:sym typeface="+mn-ea"/>
              </a:rPr>
              <a:t>, </a:t>
            </a:r>
            <a:r>
              <a:rPr lang="zh-CN" altLang="en-US" sz="1400" dirty="0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  <a:sym typeface="+mn-ea"/>
              </a:rPr>
              <a:t>执行</a:t>
            </a:r>
            <a:r>
              <a:rPr lang="en-US" altLang="zh-CN" sz="1400" dirty="0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  <a:sym typeface="+mn-ea"/>
              </a:rPr>
              <a:t>1</a:t>
            </a:r>
            <a:r>
              <a:rPr lang="zh-CN" altLang="en-US" sz="1400" dirty="0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  <a:sym typeface="+mn-ea"/>
              </a:rPr>
              <a:t>次</a:t>
            </a:r>
            <a:endParaRPr lang="zh-CN" altLang="en-US" sz="1400" dirty="0">
              <a:solidFill>
                <a:prstClr val="black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47" name="文本框 46"/>
          <p:cNvSpPr txBox="1"/>
          <p:nvPr>
            <p:custDataLst>
              <p:tags r:id="rId48"/>
            </p:custDataLst>
          </p:nvPr>
        </p:nvSpPr>
        <p:spPr>
          <a:xfrm>
            <a:off x="-2054225" y="7891285"/>
            <a:ext cx="1577975" cy="1169551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 defTabSz="914400"/>
            <a:r>
              <a:rPr lang="en-US" altLang="zh-CN" sz="1400" dirty="0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</a:rPr>
              <a:t>step-8</a:t>
            </a:r>
            <a:r>
              <a:rPr lang="zh-CN" altLang="en-US" sz="1400" dirty="0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</a:rPr>
              <a:t>：</a:t>
            </a:r>
            <a:r>
              <a:rPr lang="en-US" altLang="zh-CN" sz="1400" dirty="0" err="1">
                <a:solidFill>
                  <a:srgbClr val="FF0000"/>
                </a:solidFill>
                <a:latin typeface="Arial" panose="020B0604020202020204"/>
                <a:ea typeface="微软雅黑" panose="020B0503020204020204" charset="-122"/>
              </a:rPr>
              <a:t>softmax</a:t>
            </a:r>
            <a:endParaRPr lang="en-US" altLang="zh-CN" sz="1400" dirty="0">
              <a:solidFill>
                <a:prstClr val="black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ctr" defTabSz="914400"/>
            <a:endParaRPr lang="zh-CN" altLang="en-US" sz="1400" dirty="0">
              <a:solidFill>
                <a:prstClr val="black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ctr" defTabSz="914400"/>
            <a:r>
              <a:rPr lang="en-US" altLang="zh-CN" sz="1400" dirty="0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  <a:sym typeface="+mn-ea"/>
              </a:rPr>
              <a:t>32</a:t>
            </a:r>
            <a:r>
              <a:rPr lang="zh-CN" altLang="en-US" sz="1400" dirty="0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  <a:sym typeface="+mn-ea"/>
              </a:rPr>
              <a:t>个</a:t>
            </a:r>
            <a:r>
              <a:rPr lang="en-US" altLang="zh-CN" sz="1400" dirty="0" err="1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  <a:sym typeface="+mn-ea"/>
              </a:rPr>
              <a:t>feature_head</a:t>
            </a:r>
            <a:r>
              <a:rPr lang="zh-CN" altLang="en-US" sz="1400" dirty="0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  <a:sym typeface="+mn-ea"/>
              </a:rPr>
              <a:t>一起</a:t>
            </a:r>
            <a:r>
              <a:rPr lang="en-US" altLang="zh-CN" sz="1400" dirty="0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  <a:sym typeface="+mn-ea"/>
              </a:rPr>
              <a:t>, </a:t>
            </a:r>
            <a:r>
              <a:rPr lang="zh-CN" altLang="en-US" sz="1400" dirty="0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  <a:sym typeface="+mn-ea"/>
              </a:rPr>
              <a:t>执行</a:t>
            </a:r>
            <a:r>
              <a:rPr lang="en-US" altLang="zh-CN" sz="1400" dirty="0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  <a:sym typeface="+mn-ea"/>
              </a:rPr>
              <a:t>1</a:t>
            </a:r>
            <a:r>
              <a:rPr lang="zh-CN" altLang="en-US" sz="1400" dirty="0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  <a:sym typeface="+mn-ea"/>
              </a:rPr>
              <a:t>次</a:t>
            </a:r>
            <a:endParaRPr lang="zh-CN" altLang="en-US" sz="1400" dirty="0">
              <a:solidFill>
                <a:prstClr val="black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cxnSp>
        <p:nvCxnSpPr>
          <p:cNvPr id="49" name="直接箭头连接符 48"/>
          <p:cNvCxnSpPr>
            <a:stCxn id="47" idx="3"/>
            <a:endCxn id="51" idx="2"/>
          </p:cNvCxnSpPr>
          <p:nvPr>
            <p:custDataLst>
              <p:tags r:id="rId49"/>
            </p:custDataLst>
          </p:nvPr>
        </p:nvCxnSpPr>
        <p:spPr>
          <a:xfrm>
            <a:off x="-476250" y="8476061"/>
            <a:ext cx="1158242" cy="639049"/>
          </a:xfrm>
          <a:prstGeom prst="straightConnector1">
            <a:avLst/>
          </a:prstGeom>
          <a:noFill/>
          <a:ln w="28575" cap="flat" cmpd="sng" algn="ctr">
            <a:solidFill>
              <a:srgbClr val="92D050"/>
            </a:solidFill>
            <a:prstDash val="solid"/>
            <a:tailEnd type="arrow"/>
          </a:ln>
          <a:effectLst/>
        </p:spPr>
      </p:cxnSp>
      <p:sp>
        <p:nvSpPr>
          <p:cNvPr id="51" name="椭圆 50"/>
          <p:cNvSpPr/>
          <p:nvPr>
            <p:custDataLst>
              <p:tags r:id="rId50"/>
            </p:custDataLst>
          </p:nvPr>
        </p:nvSpPr>
        <p:spPr>
          <a:xfrm>
            <a:off x="681992" y="8486142"/>
            <a:ext cx="1734185" cy="1257935"/>
          </a:xfrm>
          <a:prstGeom prst="ellipse">
            <a:avLst/>
          </a:prstGeom>
          <a:noFill/>
          <a:ln w="38100" cap="flat" cmpd="sng" algn="ctr">
            <a:solidFill>
              <a:srgbClr val="92D050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AB40"/>
                </a:solidFill>
              </a14:hiddenFill>
            </a:ext>
          </a:extLst>
        </p:spPr>
        <p:txBody>
          <a:bodyPr rtlCol="0" anchor="ctr"/>
          <a:lstStyle/>
          <a:p>
            <a:pPr algn="ctr" defTabSz="914400"/>
            <a:endParaRPr lang="zh-CN" altLang="en-US" sz="1600">
              <a:solidFill>
                <a:srgbClr val="FFFF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2" name="文本框 51"/>
          <p:cNvSpPr txBox="1"/>
          <p:nvPr>
            <p:custDataLst>
              <p:tags r:id="rId51"/>
            </p:custDataLst>
          </p:nvPr>
        </p:nvSpPr>
        <p:spPr>
          <a:xfrm>
            <a:off x="5079367" y="8228967"/>
            <a:ext cx="1577975" cy="1384995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 defTabSz="914400"/>
            <a:r>
              <a:rPr lang="en-US" altLang="zh-CN" sz="1400" dirty="0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</a:rPr>
              <a:t>step-11</a:t>
            </a:r>
            <a:r>
              <a:rPr lang="zh-CN" altLang="en-US" sz="1400" dirty="0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</a:rPr>
              <a:t>：</a:t>
            </a:r>
            <a:r>
              <a:rPr lang="en-US" altLang="zh-CN" sz="1400" dirty="0">
                <a:solidFill>
                  <a:srgbClr val="FF0000"/>
                </a:solidFill>
                <a:latin typeface="Arial" panose="020B0604020202020204"/>
                <a:ea typeface="微软雅黑" panose="020B0503020204020204" charset="-122"/>
              </a:rPr>
              <a:t>F2W</a:t>
            </a:r>
            <a:endParaRPr lang="en-US" altLang="zh-CN" sz="1400" dirty="0">
              <a:solidFill>
                <a:prstClr val="black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ctr" defTabSz="914400"/>
            <a:r>
              <a:rPr lang="en-US" altLang="zh-CN" sz="1400" dirty="0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  <a:sym typeface="+mn-ea"/>
              </a:rPr>
              <a:t>MVM_after_F2W</a:t>
            </a:r>
            <a:endParaRPr lang="en-US" altLang="zh-CN" sz="1400" dirty="0">
              <a:solidFill>
                <a:prstClr val="black"/>
              </a:solidFill>
              <a:latin typeface="Arial" panose="020B0604020202020204"/>
              <a:ea typeface="微软雅黑" panose="020B0503020204020204" charset="-122"/>
              <a:sym typeface="+mn-ea"/>
            </a:endParaRPr>
          </a:p>
          <a:p>
            <a:pPr algn="ctr" defTabSz="914400"/>
            <a:endParaRPr lang="en-US" altLang="zh-CN" sz="1400" dirty="0">
              <a:solidFill>
                <a:prstClr val="black"/>
              </a:solidFill>
              <a:latin typeface="Arial" panose="020B0604020202020204"/>
              <a:ea typeface="微软雅黑" panose="020B0503020204020204" charset="-122"/>
              <a:sym typeface="+mn-ea"/>
            </a:endParaRPr>
          </a:p>
          <a:p>
            <a:pPr algn="ctr" defTabSz="914400"/>
            <a:r>
              <a:rPr lang="en-US" altLang="zh-CN" sz="1400" dirty="0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  <a:sym typeface="+mn-ea"/>
              </a:rPr>
              <a:t>32</a:t>
            </a:r>
            <a:r>
              <a:rPr lang="zh-CN" altLang="en-US" sz="1400" dirty="0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  <a:sym typeface="+mn-ea"/>
              </a:rPr>
              <a:t>个</a:t>
            </a:r>
            <a:r>
              <a:rPr lang="en-US" altLang="zh-CN" sz="1400" dirty="0" err="1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  <a:sym typeface="+mn-ea"/>
              </a:rPr>
              <a:t>feature_head</a:t>
            </a:r>
            <a:r>
              <a:rPr lang="zh-CN" altLang="en-US" sz="1400" dirty="0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  <a:sym typeface="+mn-ea"/>
              </a:rPr>
              <a:t>一起</a:t>
            </a:r>
            <a:r>
              <a:rPr lang="en-US" altLang="zh-CN" sz="1400" dirty="0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  <a:sym typeface="+mn-ea"/>
              </a:rPr>
              <a:t>, </a:t>
            </a:r>
            <a:r>
              <a:rPr lang="zh-CN" altLang="en-US" sz="1400" dirty="0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</a:rPr>
              <a:t>执行</a:t>
            </a:r>
            <a:r>
              <a:rPr lang="en-US" altLang="zh-CN" sz="1400" dirty="0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</a:rPr>
              <a:t>1</a:t>
            </a:r>
            <a:r>
              <a:rPr lang="zh-CN" altLang="en-US" sz="1400" dirty="0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</a:rPr>
              <a:t>次</a:t>
            </a:r>
            <a:endParaRPr lang="zh-CN" altLang="en-US" sz="1400" dirty="0">
              <a:solidFill>
                <a:prstClr val="black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53" name="椭圆 52"/>
          <p:cNvSpPr/>
          <p:nvPr>
            <p:custDataLst>
              <p:tags r:id="rId52"/>
            </p:custDataLst>
          </p:nvPr>
        </p:nvSpPr>
        <p:spPr>
          <a:xfrm>
            <a:off x="2686685" y="8228965"/>
            <a:ext cx="1485900" cy="885190"/>
          </a:xfrm>
          <a:prstGeom prst="ellipse">
            <a:avLst/>
          </a:prstGeom>
          <a:noFill/>
          <a:ln w="38100" cap="flat" cmpd="sng" algn="ctr">
            <a:solidFill>
              <a:srgbClr val="92D050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AB40"/>
                </a:solidFill>
              </a14:hiddenFill>
            </a:ext>
          </a:extLst>
        </p:spPr>
        <p:txBody>
          <a:bodyPr rtlCol="0" anchor="ctr"/>
          <a:lstStyle/>
          <a:p>
            <a:pPr algn="ctr" defTabSz="914400"/>
            <a:endParaRPr lang="zh-CN" altLang="en-US" sz="1600">
              <a:solidFill>
                <a:srgbClr val="FFFF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54" name="直接箭头连接符 53"/>
          <p:cNvCxnSpPr>
            <a:endCxn id="53" idx="6"/>
          </p:cNvCxnSpPr>
          <p:nvPr>
            <p:custDataLst>
              <p:tags r:id="rId53"/>
            </p:custDataLst>
          </p:nvPr>
        </p:nvCxnSpPr>
        <p:spPr>
          <a:xfrm flipH="1">
            <a:off x="4172585" y="8667117"/>
            <a:ext cx="869950" cy="4445"/>
          </a:xfrm>
          <a:prstGeom prst="straightConnector1">
            <a:avLst/>
          </a:prstGeom>
          <a:noFill/>
          <a:ln w="28575" cap="flat" cmpd="sng" algn="ctr">
            <a:solidFill>
              <a:srgbClr val="92D050"/>
            </a:solidFill>
            <a:prstDash val="solid"/>
            <a:tailEnd type="arrow"/>
          </a:ln>
          <a:effectLst/>
        </p:spPr>
      </p:cxnSp>
      <p:cxnSp>
        <p:nvCxnSpPr>
          <p:cNvPr id="7" name="直接箭头连接符 6"/>
          <p:cNvCxnSpPr>
            <a:stCxn id="157" idx="2"/>
            <a:endCxn id="10" idx="0"/>
          </p:cNvCxnSpPr>
          <p:nvPr>
            <p:custDataLst>
              <p:tags r:id="rId54"/>
            </p:custDataLst>
          </p:nvPr>
        </p:nvCxnSpPr>
        <p:spPr>
          <a:xfrm>
            <a:off x="1585279" y="7482824"/>
            <a:ext cx="14286" cy="478173"/>
          </a:xfrm>
          <a:prstGeom prst="straightConnector1">
            <a:avLst/>
          </a:prstGeom>
          <a:noFill/>
          <a:ln w="28575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sp>
        <p:nvSpPr>
          <p:cNvPr id="13" name="文本框 12"/>
          <p:cNvSpPr txBox="1"/>
          <p:nvPr>
            <p:custDataLst>
              <p:tags r:id="rId55"/>
            </p:custDataLst>
          </p:nvPr>
        </p:nvSpPr>
        <p:spPr>
          <a:xfrm>
            <a:off x="-2054225" y="726720"/>
            <a:ext cx="1577975" cy="954107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 defTabSz="914400"/>
            <a:r>
              <a:rPr lang="en-US" altLang="zh-CN" sz="1400" dirty="0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</a:rPr>
              <a:t>step-2</a:t>
            </a:r>
            <a:r>
              <a:rPr lang="zh-CN" altLang="en-US" sz="1400" dirty="0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</a:rPr>
              <a:t>：</a:t>
            </a:r>
            <a:r>
              <a:rPr lang="en-US" altLang="zh-CN" sz="1400" dirty="0">
                <a:solidFill>
                  <a:srgbClr val="FF0000"/>
                </a:solidFill>
                <a:latin typeface="Arial" panose="020B0604020202020204"/>
                <a:ea typeface="微软雅黑" panose="020B0503020204020204" charset="-122"/>
                <a:sym typeface="+mn-ea"/>
              </a:rPr>
              <a:t>MVMBN0(Q)</a:t>
            </a:r>
            <a:endParaRPr lang="en-US" altLang="zh-CN" sz="1400" dirty="0">
              <a:solidFill>
                <a:prstClr val="black"/>
              </a:solidFill>
              <a:latin typeface="Arial" panose="020B0604020202020204"/>
              <a:ea typeface="微软雅黑" panose="020B0503020204020204" charset="-122"/>
              <a:sym typeface="+mn-ea"/>
            </a:endParaRPr>
          </a:p>
          <a:p>
            <a:pPr algn="ctr" defTabSz="914400"/>
            <a:r>
              <a:rPr lang="en-US" altLang="zh-CN" sz="1400" dirty="0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  <a:sym typeface="+mn-ea"/>
              </a:rPr>
              <a:t>32</a:t>
            </a:r>
            <a:r>
              <a:rPr lang="zh-CN" altLang="en-US" sz="1400" dirty="0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  <a:sym typeface="+mn-ea"/>
              </a:rPr>
              <a:t>个</a:t>
            </a:r>
            <a:r>
              <a:rPr lang="en-US" altLang="zh-CN" sz="1400" dirty="0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  <a:sym typeface="+mn-ea"/>
              </a:rPr>
              <a:t>head</a:t>
            </a:r>
            <a:r>
              <a:rPr lang="zh-CN" altLang="en-US" sz="1400" dirty="0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  <a:sym typeface="+mn-ea"/>
              </a:rPr>
              <a:t>一起</a:t>
            </a:r>
            <a:endParaRPr lang="zh-CN" altLang="en-US" sz="1400" dirty="0">
              <a:solidFill>
                <a:prstClr val="black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ctr" defTabSz="914400"/>
            <a:endParaRPr lang="en-US" altLang="zh-CN" sz="1400" dirty="0">
              <a:solidFill>
                <a:prstClr val="black"/>
              </a:solidFill>
              <a:latin typeface="Arial" panose="020B0604020202020204"/>
              <a:ea typeface="微软雅黑" panose="020B0503020204020204" charset="-122"/>
              <a:sym typeface="+mn-ea"/>
            </a:endParaRPr>
          </a:p>
        </p:txBody>
      </p:sp>
      <p:cxnSp>
        <p:nvCxnSpPr>
          <p:cNvPr id="57" name="直接箭头连接符 56"/>
          <p:cNvCxnSpPr>
            <a:stCxn id="13" idx="3"/>
            <a:endCxn id="23" idx="1"/>
          </p:cNvCxnSpPr>
          <p:nvPr>
            <p:custDataLst>
              <p:tags r:id="rId56"/>
            </p:custDataLst>
          </p:nvPr>
        </p:nvCxnSpPr>
        <p:spPr>
          <a:xfrm>
            <a:off x="-476250" y="1203774"/>
            <a:ext cx="842647" cy="972371"/>
          </a:xfrm>
          <a:prstGeom prst="straightConnector1">
            <a:avLst/>
          </a:prstGeom>
          <a:noFill/>
          <a:ln w="28575" cap="flat" cmpd="sng" algn="ctr">
            <a:solidFill>
              <a:srgbClr val="92D050"/>
            </a:solidFill>
            <a:prstDash val="solid"/>
            <a:tailEnd type="arrow"/>
          </a:ln>
          <a:effectLst/>
        </p:spPr>
      </p:cxnSp>
      <p:cxnSp>
        <p:nvCxnSpPr>
          <p:cNvPr id="58" name="直接箭头连接符 57"/>
          <p:cNvCxnSpPr>
            <a:stCxn id="63" idx="3"/>
            <a:endCxn id="44" idx="1"/>
          </p:cNvCxnSpPr>
          <p:nvPr>
            <p:custDataLst>
              <p:tags r:id="rId57"/>
            </p:custDataLst>
          </p:nvPr>
        </p:nvCxnSpPr>
        <p:spPr>
          <a:xfrm>
            <a:off x="-479220" y="3197807"/>
            <a:ext cx="845617" cy="1714553"/>
          </a:xfrm>
          <a:prstGeom prst="straightConnector1">
            <a:avLst/>
          </a:prstGeom>
          <a:noFill/>
          <a:ln w="28575" cap="flat" cmpd="sng" algn="ctr">
            <a:solidFill>
              <a:srgbClr val="92D050"/>
            </a:solidFill>
            <a:prstDash val="solid"/>
            <a:tailEnd type="arrow"/>
          </a:ln>
          <a:effectLst/>
        </p:spPr>
      </p:cxnSp>
      <p:sp>
        <p:nvSpPr>
          <p:cNvPr id="62" name="椭圆 61"/>
          <p:cNvSpPr/>
          <p:nvPr>
            <p:custDataLst>
              <p:tags r:id="rId58"/>
            </p:custDataLst>
          </p:nvPr>
        </p:nvSpPr>
        <p:spPr>
          <a:xfrm>
            <a:off x="1567505" y="4591068"/>
            <a:ext cx="1190625" cy="664845"/>
          </a:xfrm>
          <a:prstGeom prst="ellipse">
            <a:avLst/>
          </a:prstGeom>
          <a:noFill/>
          <a:ln w="38100" cap="flat" cmpd="sng" algn="ctr">
            <a:solidFill>
              <a:srgbClr val="92D050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AB40"/>
                </a:solidFill>
              </a14:hiddenFill>
            </a:ext>
          </a:extLst>
        </p:spPr>
        <p:txBody>
          <a:bodyPr rtlCol="0" anchor="ctr"/>
          <a:lstStyle/>
          <a:p>
            <a:pPr algn="ctr" defTabSz="914400"/>
            <a:endParaRPr lang="zh-CN" altLang="en-US" sz="1600">
              <a:solidFill>
                <a:srgbClr val="FFFF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3" name="文本框 62"/>
          <p:cNvSpPr txBox="1"/>
          <p:nvPr>
            <p:custDataLst>
              <p:tags r:id="rId59"/>
            </p:custDataLst>
          </p:nvPr>
        </p:nvSpPr>
        <p:spPr>
          <a:xfrm>
            <a:off x="-2057195" y="2613607"/>
            <a:ext cx="1577975" cy="1168400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 defTabSz="914400"/>
            <a:r>
              <a:rPr lang="en-US" altLang="zh-CN" sz="1400" dirty="0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</a:rPr>
              <a:t>step-3</a:t>
            </a:r>
            <a:r>
              <a:rPr lang="zh-CN" altLang="en-US" sz="1400" dirty="0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</a:rPr>
              <a:t>：</a:t>
            </a:r>
            <a:r>
              <a:rPr lang="en-US" altLang="zh-CN" sz="1400" dirty="0">
                <a:solidFill>
                  <a:srgbClr val="FF0000"/>
                </a:solidFill>
                <a:latin typeface="Arial" panose="020B0604020202020204"/>
                <a:ea typeface="微软雅黑" panose="020B0503020204020204" charset="-122"/>
              </a:rPr>
              <a:t>EMB(Q)</a:t>
            </a:r>
            <a:endParaRPr lang="en-US" altLang="zh-CN" sz="1400" dirty="0">
              <a:solidFill>
                <a:prstClr val="black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ctr" defTabSz="914400"/>
            <a:r>
              <a:rPr lang="en-US" altLang="zh-CN" sz="1400" dirty="0" err="1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  <a:sym typeface="+mn-ea"/>
              </a:rPr>
              <a:t>Pos_EMB</a:t>
            </a:r>
            <a:endParaRPr lang="en-US" altLang="zh-CN" sz="1400" dirty="0">
              <a:solidFill>
                <a:prstClr val="black"/>
              </a:solidFill>
              <a:latin typeface="Arial" panose="020B0604020202020204"/>
              <a:ea typeface="微软雅黑" panose="020B0503020204020204" charset="-122"/>
              <a:sym typeface="+mn-ea"/>
            </a:endParaRPr>
          </a:p>
          <a:p>
            <a:pPr algn="ctr" defTabSz="914400"/>
            <a:r>
              <a:rPr lang="en-US" altLang="zh-CN" sz="1400" dirty="0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</a:rPr>
              <a:t>32</a:t>
            </a:r>
            <a:r>
              <a:rPr lang="zh-CN" altLang="en-US" sz="1400" dirty="0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</a:rPr>
              <a:t>个</a:t>
            </a:r>
            <a:r>
              <a:rPr lang="en-US" altLang="zh-CN" sz="1400" dirty="0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</a:rPr>
              <a:t>head</a:t>
            </a:r>
            <a:r>
              <a:rPr lang="zh-CN" altLang="en-US" sz="1400" dirty="0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</a:rPr>
              <a:t>一起</a:t>
            </a:r>
            <a:endParaRPr lang="zh-CN" altLang="en-US" sz="1400" dirty="0">
              <a:solidFill>
                <a:prstClr val="black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ctr" defTabSz="914400"/>
            <a:endParaRPr lang="zh-CN" altLang="en-US" sz="1400" dirty="0">
              <a:solidFill>
                <a:prstClr val="black"/>
              </a:solidFill>
              <a:latin typeface="Arial" panose="020B0604020202020204"/>
              <a:ea typeface="微软雅黑" panose="020B0503020204020204" charset="-122"/>
              <a:sym typeface="+mn-ea"/>
            </a:endParaRPr>
          </a:p>
          <a:p>
            <a:pPr algn="ctr" defTabSz="914400"/>
            <a:r>
              <a:rPr lang="zh-CN" altLang="en-US" sz="1400" dirty="0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  <a:sym typeface="+mn-ea"/>
              </a:rPr>
              <a:t>执行</a:t>
            </a:r>
            <a:r>
              <a:rPr lang="en-US" altLang="zh-CN" sz="1400" dirty="0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  <a:sym typeface="+mn-ea"/>
              </a:rPr>
              <a:t>1</a:t>
            </a:r>
            <a:r>
              <a:rPr lang="zh-CN" altLang="en-US" sz="1400" dirty="0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  <a:sym typeface="+mn-ea"/>
              </a:rPr>
              <a:t>次</a:t>
            </a:r>
            <a:endParaRPr lang="en-US" altLang="zh-CN" sz="1400" dirty="0">
              <a:solidFill>
                <a:prstClr val="black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64" name="文本框 63"/>
          <p:cNvSpPr txBox="1"/>
          <p:nvPr>
            <p:custDataLst>
              <p:tags r:id="rId60"/>
            </p:custDataLst>
          </p:nvPr>
        </p:nvSpPr>
        <p:spPr>
          <a:xfrm>
            <a:off x="5092641" y="7046708"/>
            <a:ext cx="1577975" cy="737235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 defTabSz="914400"/>
            <a:r>
              <a:rPr lang="zh-CN" altLang="en-US" sz="1400" dirty="0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</a:rPr>
              <a:t>这两个地方需要</a:t>
            </a:r>
            <a:r>
              <a:rPr lang="en-US" altLang="zh-CN" sz="1400" dirty="0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</a:rPr>
              <a:t>cache</a:t>
            </a:r>
            <a:r>
              <a:rPr lang="zh-CN" altLang="en-US" sz="1400" dirty="0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</a:rPr>
              <a:t>，也即</a:t>
            </a:r>
            <a:r>
              <a:rPr lang="en-US" altLang="zh-CN" sz="1400" dirty="0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</a:rPr>
              <a:t>KV cache</a:t>
            </a:r>
            <a:endParaRPr lang="en-US" altLang="zh-CN" sz="1400" dirty="0">
              <a:solidFill>
                <a:prstClr val="black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cxnSp>
        <p:nvCxnSpPr>
          <p:cNvPr id="65" name="直接箭头连接符 64"/>
          <p:cNvCxnSpPr>
            <a:stCxn id="64" idx="1"/>
            <a:endCxn id="99" idx="3"/>
          </p:cNvCxnSpPr>
          <p:nvPr>
            <p:custDataLst>
              <p:tags r:id="rId61"/>
            </p:custDataLst>
          </p:nvPr>
        </p:nvCxnSpPr>
        <p:spPr>
          <a:xfrm flipH="1" flipV="1">
            <a:off x="2725897" y="5708316"/>
            <a:ext cx="2366744" cy="1707010"/>
          </a:xfrm>
          <a:prstGeom prst="straightConnector1">
            <a:avLst/>
          </a:prstGeom>
          <a:noFill/>
          <a:ln w="28575" cap="flat" cmpd="sng" algn="ctr">
            <a:solidFill>
              <a:srgbClr val="00B0F0"/>
            </a:solidFill>
            <a:prstDash val="solid"/>
            <a:tailEnd type="arrow"/>
          </a:ln>
          <a:effectLst/>
        </p:spPr>
      </p:cxnSp>
      <p:cxnSp>
        <p:nvCxnSpPr>
          <p:cNvPr id="67" name="直接箭头连接符 66"/>
          <p:cNvCxnSpPr>
            <a:stCxn id="64" idx="1"/>
            <a:endCxn id="39" idx="3"/>
          </p:cNvCxnSpPr>
          <p:nvPr>
            <p:custDataLst>
              <p:tags r:id="rId62"/>
            </p:custDataLst>
          </p:nvPr>
        </p:nvCxnSpPr>
        <p:spPr>
          <a:xfrm flipH="1" flipV="1">
            <a:off x="3926207" y="2954020"/>
            <a:ext cx="1166434" cy="4461306"/>
          </a:xfrm>
          <a:prstGeom prst="straightConnector1">
            <a:avLst/>
          </a:prstGeom>
          <a:noFill/>
          <a:ln w="28575" cap="flat" cmpd="sng" algn="ctr">
            <a:solidFill>
              <a:srgbClr val="00B0F0"/>
            </a:solidFill>
            <a:prstDash val="solid"/>
            <a:tailEnd type="arrow"/>
          </a:ln>
          <a:effectLst/>
        </p:spPr>
      </p:cxnSp>
      <p:sp>
        <p:nvSpPr>
          <p:cNvPr id="21" name="文本框 20"/>
          <p:cNvSpPr txBox="1"/>
          <p:nvPr>
            <p:custDataLst>
              <p:tags r:id="rId63"/>
            </p:custDataLst>
          </p:nvPr>
        </p:nvSpPr>
        <p:spPr>
          <a:xfrm>
            <a:off x="5078140" y="968345"/>
            <a:ext cx="1577975" cy="954107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 defTabSz="914400"/>
            <a:r>
              <a:rPr lang="en-US" altLang="zh-CN" sz="1400" dirty="0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</a:rPr>
              <a:t>step-4</a:t>
            </a:r>
            <a:r>
              <a:rPr lang="zh-CN" altLang="en-US" sz="1400" dirty="0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</a:rPr>
              <a:t>：</a:t>
            </a:r>
            <a:r>
              <a:rPr lang="en-US" altLang="zh-CN" sz="1400" dirty="0">
                <a:solidFill>
                  <a:srgbClr val="FF0000"/>
                </a:solidFill>
                <a:latin typeface="Arial" panose="020B0604020202020204"/>
                <a:ea typeface="微软雅黑" panose="020B0503020204020204" charset="-122"/>
                <a:sym typeface="+mn-ea"/>
              </a:rPr>
              <a:t>MVMBN0(K)</a:t>
            </a:r>
            <a:endParaRPr lang="en-US" altLang="zh-CN" sz="1400" dirty="0">
              <a:solidFill>
                <a:prstClr val="black"/>
              </a:solidFill>
              <a:latin typeface="Arial" panose="020B0604020202020204"/>
              <a:ea typeface="微软雅黑" panose="020B0503020204020204" charset="-122"/>
              <a:sym typeface="+mn-ea"/>
            </a:endParaRPr>
          </a:p>
          <a:p>
            <a:pPr algn="ctr" defTabSz="914400"/>
            <a:r>
              <a:rPr lang="en-US" altLang="zh-CN" sz="1400" dirty="0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  <a:sym typeface="+mn-ea"/>
              </a:rPr>
              <a:t>32</a:t>
            </a:r>
            <a:r>
              <a:rPr lang="zh-CN" altLang="en-US" sz="1400" dirty="0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  <a:sym typeface="+mn-ea"/>
              </a:rPr>
              <a:t>个</a:t>
            </a:r>
            <a:r>
              <a:rPr lang="en-US" altLang="zh-CN" sz="1400" dirty="0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  <a:sym typeface="+mn-ea"/>
              </a:rPr>
              <a:t>head</a:t>
            </a:r>
            <a:r>
              <a:rPr lang="zh-CN" altLang="en-US" sz="1400" dirty="0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  <a:sym typeface="+mn-ea"/>
              </a:rPr>
              <a:t>一起</a:t>
            </a:r>
            <a:endParaRPr lang="zh-CN" altLang="en-US" sz="1400" dirty="0">
              <a:solidFill>
                <a:prstClr val="black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ctr" defTabSz="914400"/>
            <a:endParaRPr lang="en-US" altLang="zh-CN" sz="1400" dirty="0">
              <a:solidFill>
                <a:prstClr val="black"/>
              </a:solidFill>
              <a:latin typeface="Arial" panose="020B0604020202020204"/>
              <a:ea typeface="微软雅黑" panose="020B0503020204020204" charset="-122"/>
              <a:sym typeface="+mn-ea"/>
            </a:endParaRPr>
          </a:p>
        </p:txBody>
      </p:sp>
      <p:cxnSp>
        <p:nvCxnSpPr>
          <p:cNvPr id="29" name="直接箭头连接符 28"/>
          <p:cNvCxnSpPr>
            <a:stCxn id="21" idx="1"/>
            <a:endCxn id="16" idx="0"/>
          </p:cNvCxnSpPr>
          <p:nvPr>
            <p:custDataLst>
              <p:tags r:id="rId64"/>
            </p:custDataLst>
          </p:nvPr>
        </p:nvCxnSpPr>
        <p:spPr>
          <a:xfrm flipH="1">
            <a:off x="2151140" y="1445399"/>
            <a:ext cx="2927000" cy="335891"/>
          </a:xfrm>
          <a:prstGeom prst="straightConnector1">
            <a:avLst/>
          </a:prstGeom>
          <a:noFill/>
          <a:ln w="28575" cap="flat" cmpd="sng" algn="ctr">
            <a:solidFill>
              <a:srgbClr val="92D050"/>
            </a:solidFill>
            <a:prstDash val="solid"/>
            <a:tailEnd type="arrow"/>
          </a:ln>
          <a:effectLst/>
        </p:spPr>
      </p:cxnSp>
      <p:sp>
        <p:nvSpPr>
          <p:cNvPr id="11" name="Google Shape;6480;p66"/>
          <p:cNvSpPr/>
          <p:nvPr>
            <p:custDataLst>
              <p:tags r:id="rId65"/>
            </p:custDataLst>
          </p:nvPr>
        </p:nvSpPr>
        <p:spPr>
          <a:xfrm>
            <a:off x="376555" y="2790908"/>
            <a:ext cx="1133475" cy="31242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200">
              <a:buClr>
                <a:srgbClr val="000000"/>
              </a:buClr>
            </a:pPr>
            <a:r>
              <a:rPr lang="en-US" altLang="zh-CN" sz="800" kern="0" dirty="0" err="1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MVM_Q_output</a:t>
            </a:r>
            <a:r>
              <a:rPr lang="en-US" altLang="zh-CN" sz="800" kern="0" baseline="-25000" dirty="0">
                <a:solidFill>
                  <a:srgbClr val="FF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(x 32)</a:t>
            </a:r>
            <a:endParaRPr lang="en-US" altLang="zh-CN" sz="800" kern="0" dirty="0">
              <a:solidFill>
                <a:srgbClr val="000000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  <a:p>
            <a:pPr algn="ctr" defTabSz="1219200">
              <a:buClr>
                <a:srgbClr val="000000"/>
              </a:buClr>
            </a:pPr>
            <a:r>
              <a:rPr lang="en-US" altLang="zh-CN" sz="800" kern="0" dirty="0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[19,1,128]</a:t>
            </a:r>
            <a:endParaRPr lang="en-US" altLang="zh-CN" sz="800" kern="0" dirty="0">
              <a:solidFill>
                <a:srgbClr val="000000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</p:txBody>
      </p:sp>
      <p:sp>
        <p:nvSpPr>
          <p:cNvPr id="12" name="Google Shape;6480;p66"/>
          <p:cNvSpPr/>
          <p:nvPr>
            <p:custDataLst>
              <p:tags r:id="rId66"/>
            </p:custDataLst>
          </p:nvPr>
        </p:nvSpPr>
        <p:spPr>
          <a:xfrm>
            <a:off x="1585279" y="2801530"/>
            <a:ext cx="1133475" cy="31242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200">
              <a:buClr>
                <a:srgbClr val="000000"/>
              </a:buClr>
            </a:pPr>
            <a:r>
              <a:rPr lang="en-US" altLang="zh-CN" sz="800" kern="0" dirty="0" err="1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MVM_K_output</a:t>
            </a:r>
            <a:r>
              <a:rPr lang="en-US" altLang="zh-CN" sz="800" kern="0" dirty="0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 </a:t>
            </a:r>
            <a:r>
              <a:rPr lang="en-US" altLang="zh-CN" sz="800" kern="0" baseline="-25000" dirty="0">
                <a:solidFill>
                  <a:srgbClr val="FF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(x 8)</a:t>
            </a:r>
            <a:endParaRPr lang="en-US" altLang="zh-CN" sz="800" kern="0" dirty="0">
              <a:solidFill>
                <a:srgbClr val="000000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  <a:p>
            <a:pPr algn="ctr" defTabSz="1219200">
              <a:buClr>
                <a:srgbClr val="000000"/>
              </a:buClr>
            </a:pPr>
            <a:r>
              <a:rPr lang="en-US" altLang="zh-CN" sz="800" kern="0" dirty="0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[19,1,128]</a:t>
            </a:r>
            <a:endParaRPr lang="en-US" altLang="zh-CN" sz="1000" kern="0" dirty="0">
              <a:solidFill>
                <a:srgbClr val="000000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</p:txBody>
      </p:sp>
      <p:sp>
        <p:nvSpPr>
          <p:cNvPr id="73" name="Google Shape;6480;p66"/>
          <p:cNvSpPr/>
          <p:nvPr>
            <p:custDataLst>
              <p:tags r:id="rId67"/>
            </p:custDataLst>
          </p:nvPr>
        </p:nvSpPr>
        <p:spPr>
          <a:xfrm>
            <a:off x="388829" y="3354790"/>
            <a:ext cx="1111043" cy="536575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200">
              <a:buClr>
                <a:srgbClr val="000000"/>
              </a:buClr>
            </a:pPr>
            <a:r>
              <a:rPr lang="en-US" altLang="zh-CN" sz="1000" kern="0" dirty="0" err="1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RMSNorm</a:t>
            </a:r>
            <a:endParaRPr lang="en-US" altLang="zh-CN" sz="1000" kern="0" dirty="0">
              <a:solidFill>
                <a:srgbClr val="000000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  <a:p>
            <a:pPr algn="ctr" defTabSz="1219200">
              <a:buClr>
                <a:srgbClr val="000000"/>
              </a:buClr>
            </a:pPr>
            <a:r>
              <a:rPr lang="en-US" altLang="zh-CN" sz="1000" kern="0" dirty="0" err="1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LN_k</a:t>
            </a:r>
            <a:r>
              <a:rPr lang="en-US" altLang="zh-CN" sz="1000" kern="0" dirty="0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: [1,128] </a:t>
            </a:r>
            <a:endParaRPr lang="en-US" altLang="zh-CN" sz="1000" kern="0" dirty="0">
              <a:solidFill>
                <a:srgbClr val="000000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  <a:p>
            <a:pPr algn="ctr" defTabSz="1219200">
              <a:buClr>
                <a:srgbClr val="000000"/>
              </a:buClr>
            </a:pPr>
            <a:r>
              <a:rPr lang="en-US" altLang="zh-CN" sz="1000" kern="0" dirty="0" err="1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LN_bias</a:t>
            </a:r>
            <a:r>
              <a:rPr lang="en-US" altLang="zh-CN" sz="1000" kern="0" dirty="0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: [128] </a:t>
            </a:r>
            <a:endParaRPr lang="en-US" altLang="zh-CN" sz="1000" kern="0" dirty="0">
              <a:solidFill>
                <a:srgbClr val="000000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</p:txBody>
      </p:sp>
      <p:sp>
        <p:nvSpPr>
          <p:cNvPr id="74" name="Google Shape;6480;p66"/>
          <p:cNvSpPr/>
          <p:nvPr>
            <p:custDataLst>
              <p:tags r:id="rId68"/>
            </p:custDataLst>
          </p:nvPr>
        </p:nvSpPr>
        <p:spPr>
          <a:xfrm>
            <a:off x="1607711" y="3367747"/>
            <a:ext cx="1111043" cy="536575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200">
              <a:buClr>
                <a:srgbClr val="000000"/>
              </a:buClr>
            </a:pPr>
            <a:r>
              <a:rPr lang="en-US" altLang="zh-CN" sz="1000" kern="0" dirty="0" err="1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RMSNorm</a:t>
            </a:r>
            <a:endParaRPr lang="en-US" altLang="zh-CN" sz="1000" kern="0" dirty="0">
              <a:solidFill>
                <a:srgbClr val="000000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  <a:p>
            <a:pPr algn="ctr" defTabSz="1219200">
              <a:buClr>
                <a:srgbClr val="000000"/>
              </a:buClr>
            </a:pPr>
            <a:r>
              <a:rPr lang="en-US" altLang="zh-CN" sz="1000" kern="0" dirty="0" err="1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LN_k</a:t>
            </a:r>
            <a:r>
              <a:rPr lang="en-US" altLang="zh-CN" sz="1000" kern="0" dirty="0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: [1,128] </a:t>
            </a:r>
            <a:endParaRPr lang="en-US" altLang="zh-CN" sz="1000" kern="0" dirty="0">
              <a:solidFill>
                <a:srgbClr val="000000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  <a:p>
            <a:pPr algn="ctr" defTabSz="1219200">
              <a:buClr>
                <a:srgbClr val="000000"/>
              </a:buClr>
            </a:pPr>
            <a:r>
              <a:rPr lang="en-US" altLang="zh-CN" sz="1000" kern="0" dirty="0" err="1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LN_bias</a:t>
            </a:r>
            <a:r>
              <a:rPr lang="en-US" altLang="zh-CN" sz="1000" kern="0" dirty="0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: [128] </a:t>
            </a:r>
            <a:endParaRPr lang="en-US" altLang="zh-CN" sz="1000" kern="0" dirty="0">
              <a:solidFill>
                <a:srgbClr val="000000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77" name="直接箭头连接符 76"/>
          <p:cNvCxnSpPr>
            <a:stCxn id="23" idx="2"/>
            <a:endCxn id="11" idx="0"/>
          </p:cNvCxnSpPr>
          <p:nvPr>
            <p:custDataLst>
              <p:tags r:id="rId69"/>
            </p:custDataLst>
          </p:nvPr>
        </p:nvCxnSpPr>
        <p:spPr>
          <a:xfrm>
            <a:off x="933135" y="2481580"/>
            <a:ext cx="10158" cy="309328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cxnSp>
        <p:nvCxnSpPr>
          <p:cNvPr id="80" name="直接箭头连接符 79"/>
          <p:cNvCxnSpPr>
            <a:stCxn id="30" idx="2"/>
            <a:endCxn id="12" idx="0"/>
          </p:cNvCxnSpPr>
          <p:nvPr>
            <p:custDataLst>
              <p:tags r:id="rId70"/>
            </p:custDataLst>
          </p:nvPr>
        </p:nvCxnSpPr>
        <p:spPr>
          <a:xfrm>
            <a:off x="2145350" y="2481580"/>
            <a:ext cx="6667" cy="319950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cxnSp>
        <p:nvCxnSpPr>
          <p:cNvPr id="83" name="直接箭头连接符 82"/>
          <p:cNvCxnSpPr>
            <a:stCxn id="11" idx="2"/>
            <a:endCxn id="73" idx="0"/>
          </p:cNvCxnSpPr>
          <p:nvPr>
            <p:custDataLst>
              <p:tags r:id="rId71"/>
            </p:custDataLst>
          </p:nvPr>
        </p:nvCxnSpPr>
        <p:spPr>
          <a:xfrm>
            <a:off x="943293" y="3103328"/>
            <a:ext cx="1058" cy="251462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cxnSp>
        <p:nvCxnSpPr>
          <p:cNvPr id="86" name="直接箭头连接符 85"/>
          <p:cNvCxnSpPr>
            <a:stCxn id="12" idx="2"/>
            <a:endCxn id="74" idx="0"/>
          </p:cNvCxnSpPr>
          <p:nvPr>
            <p:custDataLst>
              <p:tags r:id="rId72"/>
            </p:custDataLst>
          </p:nvPr>
        </p:nvCxnSpPr>
        <p:spPr>
          <a:xfrm>
            <a:off x="2152017" y="3113950"/>
            <a:ext cx="11216" cy="253797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cxnSp>
        <p:nvCxnSpPr>
          <p:cNvPr id="89" name="直接箭头连接符 88"/>
          <p:cNvCxnSpPr>
            <a:stCxn id="73" idx="2"/>
            <a:endCxn id="36" idx="0"/>
          </p:cNvCxnSpPr>
          <p:nvPr>
            <p:custDataLst>
              <p:tags r:id="rId73"/>
            </p:custDataLst>
          </p:nvPr>
        </p:nvCxnSpPr>
        <p:spPr>
          <a:xfrm flipH="1">
            <a:off x="933135" y="3891365"/>
            <a:ext cx="11216" cy="263129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cxnSp>
        <p:nvCxnSpPr>
          <p:cNvPr id="92" name="直接箭头连接符 91"/>
          <p:cNvCxnSpPr>
            <a:stCxn id="74" idx="2"/>
            <a:endCxn id="37" idx="0"/>
          </p:cNvCxnSpPr>
          <p:nvPr>
            <p:custDataLst>
              <p:tags r:id="rId74"/>
            </p:custDataLst>
          </p:nvPr>
        </p:nvCxnSpPr>
        <p:spPr>
          <a:xfrm flipH="1">
            <a:off x="2159160" y="3904322"/>
            <a:ext cx="4073" cy="244141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cxnSp>
        <p:nvCxnSpPr>
          <p:cNvPr id="95" name="直接箭头连接符 94"/>
          <p:cNvCxnSpPr>
            <a:stCxn id="36" idx="2"/>
            <a:endCxn id="44" idx="0"/>
          </p:cNvCxnSpPr>
          <p:nvPr>
            <p:custDataLst>
              <p:tags r:id="rId75"/>
            </p:custDataLst>
          </p:nvPr>
        </p:nvCxnSpPr>
        <p:spPr>
          <a:xfrm>
            <a:off x="933135" y="4466914"/>
            <a:ext cx="0" cy="277806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cxnSp>
        <p:nvCxnSpPr>
          <p:cNvPr id="101" name="直接箭头连接符 100"/>
          <p:cNvCxnSpPr>
            <a:stCxn id="37" idx="2"/>
            <a:endCxn id="45" idx="0"/>
          </p:cNvCxnSpPr>
          <p:nvPr>
            <p:custDataLst>
              <p:tags r:id="rId76"/>
            </p:custDataLst>
          </p:nvPr>
        </p:nvCxnSpPr>
        <p:spPr>
          <a:xfrm>
            <a:off x="2159160" y="4460883"/>
            <a:ext cx="5563" cy="295283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cxnSp>
        <p:nvCxnSpPr>
          <p:cNvPr id="108" name="直接箭头连接符 107"/>
          <p:cNvCxnSpPr>
            <a:stCxn id="44" idx="2"/>
            <a:endCxn id="98" idx="0"/>
          </p:cNvCxnSpPr>
          <p:nvPr>
            <p:custDataLst>
              <p:tags r:id="rId77"/>
            </p:custDataLst>
          </p:nvPr>
        </p:nvCxnSpPr>
        <p:spPr>
          <a:xfrm flipH="1">
            <a:off x="919800" y="5080000"/>
            <a:ext cx="13335" cy="391797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cxnSp>
        <p:nvCxnSpPr>
          <p:cNvPr id="112" name="直接箭头连接符 111"/>
          <p:cNvCxnSpPr>
            <a:stCxn id="45" idx="2"/>
            <a:endCxn id="99" idx="0"/>
          </p:cNvCxnSpPr>
          <p:nvPr>
            <p:custDataLst>
              <p:tags r:id="rId78"/>
            </p:custDataLst>
          </p:nvPr>
        </p:nvCxnSpPr>
        <p:spPr>
          <a:xfrm>
            <a:off x="2164723" y="5091446"/>
            <a:ext cx="5232" cy="369537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cxnSp>
        <p:nvCxnSpPr>
          <p:cNvPr id="118" name="直接箭头连接符 117"/>
          <p:cNvCxnSpPr>
            <a:stCxn id="98" idx="2"/>
          </p:cNvCxnSpPr>
          <p:nvPr>
            <p:custDataLst>
              <p:tags r:id="rId79"/>
            </p:custDataLst>
          </p:nvPr>
        </p:nvCxnSpPr>
        <p:spPr>
          <a:xfrm>
            <a:off x="919800" y="5966462"/>
            <a:ext cx="0" cy="1052177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cxnSp>
        <p:nvCxnSpPr>
          <p:cNvPr id="123" name="直接箭头连接符 122"/>
          <p:cNvCxnSpPr>
            <a:stCxn id="99" idx="2"/>
            <a:endCxn id="41" idx="0"/>
          </p:cNvCxnSpPr>
          <p:nvPr>
            <p:custDataLst>
              <p:tags r:id="rId80"/>
            </p:custDataLst>
          </p:nvPr>
        </p:nvCxnSpPr>
        <p:spPr>
          <a:xfrm>
            <a:off x="2169955" y="5955648"/>
            <a:ext cx="1555" cy="335597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sp>
        <p:nvSpPr>
          <p:cNvPr id="41" name="文本框 40"/>
          <p:cNvSpPr txBox="1"/>
          <p:nvPr>
            <p:custDataLst>
              <p:tags r:id="rId81"/>
            </p:custDataLst>
          </p:nvPr>
        </p:nvSpPr>
        <p:spPr>
          <a:xfrm>
            <a:off x="1599565" y="6291245"/>
            <a:ext cx="1143889" cy="464185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>
              <a:defRPr lang="zh-CN"/>
            </a:defPPr>
            <a:lvl1pPr algn="ctr" defTabSz="1219200">
              <a:buClr>
                <a:srgbClr val="000000"/>
              </a:buClr>
              <a:defRPr sz="1335" kern="0">
                <a:solidFill>
                  <a:srgbClr val="000000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r>
              <a:rPr lang="en-US" altLang="zh-CN" sz="1200" dirty="0">
                <a:solidFill>
                  <a:srgbClr val="000000"/>
                </a:solidFill>
              </a:rPr>
              <a:t>KV2HBM</a:t>
            </a:r>
            <a:endParaRPr lang="en-US" altLang="zh-CN" sz="1200" dirty="0">
              <a:solidFill>
                <a:srgbClr val="000000"/>
              </a:solidFill>
              <a:sym typeface="宋体" panose="02010600030101010101" pitchFamily="2" charset="-122"/>
            </a:endParaRPr>
          </a:p>
        </p:txBody>
      </p:sp>
      <p:cxnSp>
        <p:nvCxnSpPr>
          <p:cNvPr id="56" name="直接箭头连接符 55"/>
          <p:cNvCxnSpPr>
            <a:stCxn id="41" idx="2"/>
          </p:cNvCxnSpPr>
          <p:nvPr>
            <p:custDataLst>
              <p:tags r:id="rId82"/>
            </p:custDataLst>
          </p:nvPr>
        </p:nvCxnSpPr>
        <p:spPr>
          <a:xfrm flipH="1">
            <a:off x="2166872" y="6755430"/>
            <a:ext cx="4638" cy="263209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sp>
        <p:nvSpPr>
          <p:cNvPr id="72" name="文本框 71"/>
          <p:cNvSpPr txBox="1"/>
          <p:nvPr>
            <p:custDataLst>
              <p:tags r:id="rId83"/>
            </p:custDataLst>
          </p:nvPr>
        </p:nvSpPr>
        <p:spPr>
          <a:xfrm>
            <a:off x="2983707" y="5723555"/>
            <a:ext cx="1143889" cy="464185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>
              <a:defRPr lang="zh-CN"/>
            </a:defPPr>
            <a:lvl1pPr algn="ctr" defTabSz="1219200">
              <a:buClr>
                <a:srgbClr val="000000"/>
              </a:buClr>
              <a:defRPr sz="1335" kern="0">
                <a:solidFill>
                  <a:srgbClr val="000000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r>
              <a:rPr lang="en-US" altLang="zh-CN" sz="1200" dirty="0">
                <a:solidFill>
                  <a:srgbClr val="000000"/>
                </a:solidFill>
              </a:rPr>
              <a:t>KV2HBM</a:t>
            </a:r>
            <a:endParaRPr lang="en-US" altLang="zh-CN" sz="1200" dirty="0">
              <a:solidFill>
                <a:srgbClr val="000000"/>
              </a:solidFill>
              <a:sym typeface="宋体" panose="02010600030101010101" pitchFamily="2" charset="-122"/>
            </a:endParaRPr>
          </a:p>
        </p:txBody>
      </p:sp>
      <p:cxnSp>
        <p:nvCxnSpPr>
          <p:cNvPr id="75" name="直接箭头连接符 74"/>
          <p:cNvCxnSpPr>
            <a:stCxn id="72" idx="2"/>
          </p:cNvCxnSpPr>
          <p:nvPr>
            <p:custDataLst>
              <p:tags r:id="rId84"/>
            </p:custDataLst>
          </p:nvPr>
        </p:nvCxnSpPr>
        <p:spPr>
          <a:xfrm>
            <a:off x="3555652" y="6187740"/>
            <a:ext cx="58988" cy="2298402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sp>
        <p:nvSpPr>
          <p:cNvPr id="81" name="文本框 80"/>
          <p:cNvSpPr txBox="1"/>
          <p:nvPr>
            <p:custDataLst>
              <p:tags r:id="rId85"/>
            </p:custDataLst>
          </p:nvPr>
        </p:nvSpPr>
        <p:spPr>
          <a:xfrm>
            <a:off x="5076233" y="6130925"/>
            <a:ext cx="1577975" cy="523220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/>
              <a:t>step-10</a:t>
            </a:r>
            <a:r>
              <a:rPr lang="zh-CN" altLang="en-US" sz="1400" dirty="0"/>
              <a:t>：</a:t>
            </a:r>
            <a:endParaRPr lang="en-US" altLang="zh-CN" sz="1400" dirty="0"/>
          </a:p>
          <a:p>
            <a:pPr algn="ctr"/>
            <a:r>
              <a:rPr lang="en-US" altLang="zh-CN" sz="1400" dirty="0">
                <a:solidFill>
                  <a:srgbClr val="FF0000"/>
                </a:solidFill>
              </a:rPr>
              <a:t>KV2HBM</a:t>
            </a:r>
            <a:endParaRPr lang="en-US" altLang="zh-CN" sz="1400" dirty="0">
              <a:sym typeface="+mn-ea"/>
            </a:endParaRPr>
          </a:p>
        </p:txBody>
      </p:sp>
      <p:cxnSp>
        <p:nvCxnSpPr>
          <p:cNvPr id="82" name="直接箭头连接符 81"/>
          <p:cNvCxnSpPr>
            <a:stCxn id="81" idx="1"/>
            <a:endCxn id="72" idx="3"/>
          </p:cNvCxnSpPr>
          <p:nvPr>
            <p:custDataLst>
              <p:tags r:id="rId86"/>
            </p:custDataLst>
          </p:nvPr>
        </p:nvCxnSpPr>
        <p:spPr>
          <a:xfrm flipH="1" flipV="1">
            <a:off x="4127596" y="5955648"/>
            <a:ext cx="948637" cy="436887"/>
          </a:xfrm>
          <a:prstGeom prst="straightConnector1">
            <a:avLst/>
          </a:prstGeom>
          <a:noFill/>
          <a:ln w="28575" cap="flat" cmpd="sng" algn="ctr">
            <a:solidFill>
              <a:srgbClr val="92D050"/>
            </a:solidFill>
            <a:prstDash val="solid"/>
            <a:tailEnd type="arrow"/>
          </a:ln>
          <a:effectLst/>
        </p:spPr>
      </p:cxnSp>
      <p:sp>
        <p:nvSpPr>
          <p:cNvPr id="85" name="文本框 84"/>
          <p:cNvSpPr txBox="1"/>
          <p:nvPr>
            <p:custDataLst>
              <p:tags r:id="rId87"/>
            </p:custDataLst>
          </p:nvPr>
        </p:nvSpPr>
        <p:spPr>
          <a:xfrm>
            <a:off x="-2054226" y="5184673"/>
            <a:ext cx="1577975" cy="523220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/>
              <a:t>step-6</a:t>
            </a:r>
            <a:r>
              <a:rPr lang="zh-CN" altLang="en-US" sz="1400" dirty="0"/>
              <a:t>：</a:t>
            </a:r>
            <a:r>
              <a:rPr lang="en-US" altLang="zh-CN" sz="1400" dirty="0">
                <a:solidFill>
                  <a:srgbClr val="FF0000"/>
                </a:solidFill>
              </a:rPr>
              <a:t>KV2HBM</a:t>
            </a:r>
            <a:endParaRPr lang="en-US" altLang="zh-CN" sz="1400" dirty="0"/>
          </a:p>
        </p:txBody>
      </p:sp>
      <p:cxnSp>
        <p:nvCxnSpPr>
          <p:cNvPr id="87" name="直接箭头连接符 86"/>
          <p:cNvCxnSpPr>
            <a:stCxn id="85" idx="3"/>
            <a:endCxn id="41" idx="1"/>
          </p:cNvCxnSpPr>
          <p:nvPr>
            <p:custDataLst>
              <p:tags r:id="rId88"/>
            </p:custDataLst>
          </p:nvPr>
        </p:nvCxnSpPr>
        <p:spPr>
          <a:xfrm>
            <a:off x="-476251" y="5446283"/>
            <a:ext cx="2075816" cy="1077055"/>
          </a:xfrm>
          <a:prstGeom prst="straightConnector1">
            <a:avLst/>
          </a:prstGeom>
          <a:noFill/>
          <a:ln w="28575" cap="flat" cmpd="sng" algn="ctr">
            <a:solidFill>
              <a:srgbClr val="92D050"/>
            </a:solidFill>
            <a:prstDash val="solid"/>
            <a:tailEnd type="arrow"/>
          </a:ln>
          <a:effectLst/>
        </p:spPr>
      </p:cxnSp>
    </p:spTree>
    <p:custDataLst>
      <p:tags r:id="rId89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6480;p66"/>
          <p:cNvSpPr/>
          <p:nvPr>
            <p:custDataLst>
              <p:tags r:id="rId1"/>
            </p:custDataLst>
          </p:nvPr>
        </p:nvSpPr>
        <p:spPr>
          <a:xfrm>
            <a:off x="643255" y="410847"/>
            <a:ext cx="3623310" cy="3171825"/>
          </a:xfrm>
          <a:prstGeom prst="rect">
            <a:avLst/>
          </a:prstGeom>
          <a:solidFill>
            <a:srgbClr val="FFAB40">
              <a:lumMod val="20000"/>
              <a:lumOff val="80000"/>
            </a:srgbClr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200">
              <a:buClr>
                <a:srgbClr val="000000"/>
              </a:buClr>
            </a:pPr>
            <a:endParaRPr lang="en-US" altLang="zh-CN" sz="1335" kern="0" dirty="0">
              <a:solidFill>
                <a:srgbClr val="000000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35" name="连接符: 肘形 36"/>
          <p:cNvCxnSpPr>
            <a:stCxn id="36" idx="2"/>
            <a:endCxn id="32" idx="1"/>
          </p:cNvCxnSpPr>
          <p:nvPr>
            <p:custDataLst>
              <p:tags r:id="rId2"/>
            </p:custDataLst>
          </p:nvPr>
        </p:nvCxnSpPr>
        <p:spPr>
          <a:xfrm rot="5400000" flipV="1">
            <a:off x="123827" y="1250317"/>
            <a:ext cx="2284095" cy="304165"/>
          </a:xfrm>
          <a:prstGeom prst="bentConnector2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sp>
        <p:nvSpPr>
          <p:cNvPr id="36" name="Google Shape;6480;p66"/>
          <p:cNvSpPr/>
          <p:nvPr>
            <p:custDataLst>
              <p:tags r:id="rId3"/>
            </p:custDataLst>
          </p:nvPr>
        </p:nvSpPr>
        <p:spPr>
          <a:xfrm>
            <a:off x="466090" y="-29844"/>
            <a:ext cx="2413000" cy="290195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200">
              <a:buClr>
                <a:srgbClr val="000000"/>
              </a:buClr>
            </a:pPr>
            <a:r>
              <a:rPr lang="en-US" altLang="zh-CN" sz="1335" kern="0" dirty="0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Embedded input [19,1,4096]</a:t>
            </a:r>
            <a:endParaRPr lang="en-US" altLang="zh-CN" sz="1335" kern="0" dirty="0">
              <a:solidFill>
                <a:srgbClr val="000000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5" name="直接箭头连接符 14"/>
          <p:cNvCxnSpPr>
            <a:endCxn id="9" idx="0"/>
          </p:cNvCxnSpPr>
          <p:nvPr>
            <p:custDataLst>
              <p:tags r:id="rId4"/>
            </p:custDataLst>
          </p:nvPr>
        </p:nvCxnSpPr>
        <p:spPr>
          <a:xfrm flipH="1">
            <a:off x="2489835" y="800102"/>
            <a:ext cx="0" cy="249555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sp>
        <p:nvSpPr>
          <p:cNvPr id="19" name="文本框 18"/>
          <p:cNvSpPr txBox="1"/>
          <p:nvPr>
            <p:custDataLst>
              <p:tags r:id="rId5"/>
            </p:custDataLst>
          </p:nvPr>
        </p:nvSpPr>
        <p:spPr>
          <a:xfrm>
            <a:off x="1417955" y="1049655"/>
            <a:ext cx="2143760" cy="45339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>
              <a:defRPr lang="zh-CN"/>
            </a:defPPr>
            <a:lvl1pPr algn="ctr" defTabSz="1219200">
              <a:buClr>
                <a:srgbClr val="000000"/>
              </a:buClr>
              <a:defRPr sz="1335" kern="0">
                <a:solidFill>
                  <a:srgbClr val="000000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r>
              <a:rPr lang="en-US" altLang="zh-CN" dirty="0">
                <a:ea typeface="微软雅黑" panose="020B0503020204020204" charset="-122"/>
                <a:sym typeface="+mn-ea"/>
              </a:rPr>
              <a:t>MVM</a:t>
            </a:r>
            <a:endParaRPr lang="en-US" altLang="zh-CN" dirty="0">
              <a:ea typeface="微软雅黑" panose="020B0503020204020204" charset="-122"/>
              <a:sym typeface="+mn-ea"/>
            </a:endParaRPr>
          </a:p>
          <a:p>
            <a:r>
              <a:rPr lang="en-US" altLang="zh-CN" dirty="0">
                <a:ea typeface="微软雅黑" panose="020B0503020204020204" charset="-122"/>
                <a:sym typeface="+mn-ea"/>
              </a:rPr>
              <a:t>[4096,4096]</a:t>
            </a:r>
            <a:endParaRPr lang="zh-CN" altLang="en-US" dirty="0">
              <a:ea typeface="微软雅黑" panose="020B0503020204020204" charset="-122"/>
              <a:sym typeface="宋体" panose="02010600030101010101" pitchFamily="2" charset="-122"/>
            </a:endParaRPr>
          </a:p>
        </p:txBody>
      </p:sp>
      <p:sp>
        <p:nvSpPr>
          <p:cNvPr id="22" name="Google Shape;6480;p66"/>
          <p:cNvSpPr/>
          <p:nvPr>
            <p:custDataLst>
              <p:tags r:id="rId6"/>
            </p:custDataLst>
          </p:nvPr>
        </p:nvSpPr>
        <p:spPr>
          <a:xfrm>
            <a:off x="1417955" y="1668147"/>
            <a:ext cx="2143760" cy="401955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200">
              <a:buClr>
                <a:srgbClr val="000000"/>
              </a:buClr>
            </a:pPr>
            <a:r>
              <a:rPr lang="en-US" altLang="zh-CN" sz="1335" kern="0" dirty="0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output</a:t>
            </a:r>
            <a:endParaRPr lang="en-US" altLang="zh-CN" sz="1335" kern="0" dirty="0">
              <a:solidFill>
                <a:srgbClr val="000000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  <a:p>
            <a:pPr algn="ctr" defTabSz="1219200">
              <a:buClr>
                <a:srgbClr val="000000"/>
              </a:buClr>
            </a:pPr>
            <a:r>
              <a:rPr lang="en-US" altLang="zh-CN" sz="1335" kern="0" dirty="0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[19,1,4096]</a:t>
            </a:r>
            <a:endParaRPr lang="en-US" altLang="zh-CN" sz="1335" kern="0" dirty="0">
              <a:solidFill>
                <a:srgbClr val="000000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24" name="直接箭头连接符 23"/>
          <p:cNvCxnSpPr/>
          <p:nvPr>
            <p:custDataLst>
              <p:tags r:id="rId7"/>
            </p:custDataLst>
          </p:nvPr>
        </p:nvCxnSpPr>
        <p:spPr>
          <a:xfrm flipH="1">
            <a:off x="2489835" y="1501777"/>
            <a:ext cx="0" cy="249555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sp>
        <p:nvSpPr>
          <p:cNvPr id="26" name="Google Shape;6480;p66"/>
          <p:cNvSpPr/>
          <p:nvPr>
            <p:custDataLst>
              <p:tags r:id="rId8"/>
            </p:custDataLst>
          </p:nvPr>
        </p:nvSpPr>
        <p:spPr>
          <a:xfrm>
            <a:off x="1417955" y="2985135"/>
            <a:ext cx="2143760" cy="46228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200">
              <a:buClr>
                <a:srgbClr val="000000"/>
              </a:buClr>
            </a:pPr>
            <a:r>
              <a:rPr lang="en-US" altLang="zh-CN" sz="1335" kern="0" dirty="0" err="1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Res_output</a:t>
            </a:r>
            <a:endParaRPr lang="en-US" altLang="zh-CN" sz="1335" kern="0" dirty="0">
              <a:solidFill>
                <a:srgbClr val="000000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  <a:p>
            <a:pPr algn="ctr" defTabSz="1219200">
              <a:buClr>
                <a:srgbClr val="000000"/>
              </a:buClr>
            </a:pPr>
            <a:r>
              <a:rPr lang="en-US" altLang="zh-CN" sz="1335" kern="0" dirty="0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[19,1,4096]</a:t>
            </a:r>
            <a:endParaRPr lang="en-US" altLang="zh-CN" sz="1335" kern="0" dirty="0">
              <a:solidFill>
                <a:srgbClr val="000000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</p:txBody>
      </p:sp>
      <p:sp>
        <p:nvSpPr>
          <p:cNvPr id="32" name="文本框 31"/>
          <p:cNvSpPr txBox="1"/>
          <p:nvPr>
            <p:custDataLst>
              <p:tags r:id="rId9"/>
            </p:custDataLst>
          </p:nvPr>
        </p:nvSpPr>
        <p:spPr>
          <a:xfrm>
            <a:off x="1417955" y="2317750"/>
            <a:ext cx="2143760" cy="45339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>
              <a:defRPr lang="zh-CN"/>
            </a:defPPr>
            <a:lvl1pPr algn="ctr" defTabSz="1219200">
              <a:buClr>
                <a:srgbClr val="000000"/>
              </a:buClr>
              <a:defRPr sz="1335" kern="0">
                <a:solidFill>
                  <a:srgbClr val="000000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r>
              <a:rPr lang="en-US" altLang="zh-CN" dirty="0" err="1">
                <a:ea typeface="微软雅黑" panose="020B0503020204020204" charset="-122"/>
                <a:sym typeface="+mn-ea"/>
              </a:rPr>
              <a:t>elementwise_Add</a:t>
            </a:r>
            <a:endParaRPr lang="en-US" altLang="zh-CN" dirty="0">
              <a:ea typeface="微软雅黑" panose="020B0503020204020204" charset="-122"/>
              <a:sym typeface="+mn-ea"/>
            </a:endParaRPr>
          </a:p>
          <a:p>
            <a:r>
              <a:rPr lang="en-US" altLang="zh-CN" dirty="0">
                <a:ea typeface="微软雅黑" panose="020B0503020204020204" charset="-122"/>
                <a:sym typeface="+mn-ea"/>
              </a:rPr>
              <a:t>[</a:t>
            </a:r>
            <a:r>
              <a:rPr lang="en-US" altLang="zh-CN" dirty="0">
                <a:ea typeface="微软雅黑" panose="020B0503020204020204" charset="-122"/>
                <a:sym typeface="Arial" panose="020B0604020202020204"/>
              </a:rPr>
              <a:t>19,1,4096</a:t>
            </a:r>
            <a:r>
              <a:rPr lang="en-US" altLang="zh-CN" dirty="0">
                <a:ea typeface="微软雅黑" panose="020B0503020204020204" charset="-122"/>
                <a:sym typeface="+mn-ea"/>
              </a:rPr>
              <a:t>]</a:t>
            </a:r>
            <a:endParaRPr lang="zh-CN" altLang="en-US" dirty="0">
              <a:ea typeface="微软雅黑" panose="020B0503020204020204" charset="-122"/>
              <a:sym typeface="宋体" panose="02010600030101010101" pitchFamily="2" charset="-122"/>
            </a:endParaRPr>
          </a:p>
        </p:txBody>
      </p:sp>
      <p:cxnSp>
        <p:nvCxnSpPr>
          <p:cNvPr id="33" name="直接箭头连接符 32"/>
          <p:cNvCxnSpPr/>
          <p:nvPr>
            <p:custDataLst>
              <p:tags r:id="rId10"/>
            </p:custDataLst>
          </p:nvPr>
        </p:nvCxnSpPr>
        <p:spPr>
          <a:xfrm flipH="1">
            <a:off x="2489835" y="2068197"/>
            <a:ext cx="0" cy="249555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cxnSp>
        <p:nvCxnSpPr>
          <p:cNvPr id="34" name="直接箭头连接符 33"/>
          <p:cNvCxnSpPr/>
          <p:nvPr>
            <p:custDataLst>
              <p:tags r:id="rId11"/>
            </p:custDataLst>
          </p:nvPr>
        </p:nvCxnSpPr>
        <p:spPr>
          <a:xfrm flipH="1">
            <a:off x="2489835" y="2735582"/>
            <a:ext cx="0" cy="249555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sp>
        <p:nvSpPr>
          <p:cNvPr id="39" name="Google Shape;6480;p66"/>
          <p:cNvSpPr/>
          <p:nvPr>
            <p:custDataLst>
              <p:tags r:id="rId12"/>
            </p:custDataLst>
          </p:nvPr>
        </p:nvSpPr>
        <p:spPr>
          <a:xfrm>
            <a:off x="1181735" y="453390"/>
            <a:ext cx="2710180" cy="34671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200">
              <a:buClr>
                <a:srgbClr val="000000"/>
              </a:buClr>
            </a:pPr>
            <a:r>
              <a:rPr lang="en-US" altLang="zh-CN" sz="1335" kern="0" dirty="0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Attention output </a:t>
            </a:r>
            <a:r>
              <a:rPr lang="en-US" altLang="zh-CN" sz="1335" kern="0" baseline="-25000" dirty="0">
                <a:solidFill>
                  <a:srgbClr val="FF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(x 32)</a:t>
            </a:r>
            <a:endParaRPr lang="en-US" altLang="zh-CN" sz="1335" kern="0" dirty="0">
              <a:solidFill>
                <a:srgbClr val="000000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  <a:p>
            <a:pPr algn="ctr" defTabSz="1219200">
              <a:buClr>
                <a:srgbClr val="000000"/>
              </a:buClr>
            </a:pPr>
            <a:r>
              <a:rPr lang="en-US" altLang="zh-CN" sz="1335" kern="0" dirty="0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[19,128]</a:t>
            </a:r>
            <a:endParaRPr lang="en-US" altLang="zh-CN" sz="1335" kern="0" dirty="0">
              <a:solidFill>
                <a:srgbClr val="000000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46" name="直接箭头连接符 45"/>
          <p:cNvCxnSpPr>
            <a:stCxn id="53" idx="1"/>
          </p:cNvCxnSpPr>
          <p:nvPr>
            <p:custDataLst>
              <p:tags r:id="rId13"/>
            </p:custDataLst>
          </p:nvPr>
        </p:nvCxnSpPr>
        <p:spPr>
          <a:xfrm flipH="1">
            <a:off x="3555244" y="1059180"/>
            <a:ext cx="994210" cy="227722"/>
          </a:xfrm>
          <a:prstGeom prst="straightConnector1">
            <a:avLst/>
          </a:prstGeom>
          <a:noFill/>
          <a:ln w="76200" cap="flat" cmpd="sng" algn="ctr">
            <a:solidFill>
              <a:srgbClr val="92D050"/>
            </a:solidFill>
            <a:prstDash val="solid"/>
            <a:tailEnd type="arrow"/>
          </a:ln>
          <a:effectLst/>
        </p:spPr>
      </p:cxnSp>
      <p:sp>
        <p:nvSpPr>
          <p:cNvPr id="50" name="文本框 49"/>
          <p:cNvSpPr txBox="1"/>
          <p:nvPr>
            <p:custDataLst>
              <p:tags r:id="rId14"/>
            </p:custDataLst>
          </p:nvPr>
        </p:nvSpPr>
        <p:spPr>
          <a:xfrm>
            <a:off x="-46355" y="-85725"/>
            <a:ext cx="2876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altLang="zh-CN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</a:rPr>
              <a:t>A</a:t>
            </a:r>
            <a:endParaRPr lang="en-US" altLang="zh-CN">
              <a:solidFill>
                <a:prstClr val="black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51" name="文本框 50"/>
          <p:cNvSpPr txBox="1"/>
          <p:nvPr>
            <p:custDataLst>
              <p:tags r:id="rId15"/>
            </p:custDataLst>
          </p:nvPr>
        </p:nvSpPr>
        <p:spPr>
          <a:xfrm>
            <a:off x="-66675" y="453390"/>
            <a:ext cx="2876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altLang="zh-CN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</a:rPr>
              <a:t>G</a:t>
            </a:r>
            <a:endParaRPr lang="en-US" altLang="zh-CN">
              <a:solidFill>
                <a:prstClr val="black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52" name="文本框 51"/>
          <p:cNvSpPr txBox="1"/>
          <p:nvPr>
            <p:custDataLst>
              <p:tags r:id="rId16"/>
            </p:custDataLst>
          </p:nvPr>
        </p:nvSpPr>
        <p:spPr>
          <a:xfrm>
            <a:off x="-8255" y="2985135"/>
            <a:ext cx="2876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altLang="zh-CN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</a:rPr>
              <a:t>H</a:t>
            </a:r>
            <a:endParaRPr lang="en-US" altLang="zh-CN">
              <a:solidFill>
                <a:prstClr val="black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53" name="文本框 52"/>
          <p:cNvSpPr txBox="1"/>
          <p:nvPr>
            <p:custDataLst>
              <p:tags r:id="rId17"/>
            </p:custDataLst>
          </p:nvPr>
        </p:nvSpPr>
        <p:spPr>
          <a:xfrm>
            <a:off x="4549454" y="690562"/>
            <a:ext cx="1577975" cy="737235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 defTabSz="914400"/>
            <a:r>
              <a:rPr lang="en-US" altLang="zh-CN" sz="1400" dirty="0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</a:rPr>
              <a:t>step-12</a:t>
            </a:r>
            <a:r>
              <a:rPr lang="zh-CN" altLang="en-US" sz="1400" dirty="0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</a:rPr>
              <a:t>：</a:t>
            </a:r>
            <a:r>
              <a:rPr lang="en-US" altLang="zh-CN" sz="1400" dirty="0">
                <a:solidFill>
                  <a:srgbClr val="FF0000"/>
                </a:solidFill>
                <a:latin typeface="Arial" panose="020B0604020202020204"/>
                <a:ea typeface="微软雅黑" panose="020B0503020204020204" charset="-122"/>
                <a:sym typeface="+mn-ea"/>
              </a:rPr>
              <a:t>MVMBN1</a:t>
            </a:r>
            <a:endParaRPr lang="en-US" altLang="zh-CN" sz="1400" dirty="0">
              <a:solidFill>
                <a:prstClr val="black"/>
              </a:solidFill>
              <a:latin typeface="Arial" panose="020B0604020202020204"/>
              <a:ea typeface="微软雅黑" panose="020B0503020204020204" charset="-122"/>
              <a:sym typeface="+mn-ea"/>
            </a:endParaRPr>
          </a:p>
          <a:p>
            <a:pPr algn="ctr" defTabSz="914400"/>
            <a:endParaRPr lang="en-US" altLang="zh-CN" sz="1400" dirty="0">
              <a:solidFill>
                <a:prstClr val="black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87" name="文本框 86"/>
          <p:cNvSpPr txBox="1"/>
          <p:nvPr>
            <p:custDataLst>
              <p:tags r:id="rId18"/>
            </p:custDataLst>
          </p:nvPr>
        </p:nvSpPr>
        <p:spPr>
          <a:xfrm>
            <a:off x="1335633" y="3749895"/>
            <a:ext cx="2355851" cy="493258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>
              <a:defRPr lang="zh-CN"/>
            </a:defPPr>
            <a:lvl1pPr algn="ctr" defTabSz="1219200">
              <a:buClr>
                <a:srgbClr val="000000"/>
              </a:buClr>
              <a:defRPr sz="1335" kern="0">
                <a:solidFill>
                  <a:srgbClr val="000000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r>
              <a:rPr lang="en-US" altLang="zh-CN" dirty="0" err="1">
                <a:ea typeface="微软雅黑" panose="020B0503020204020204" charset="-122"/>
              </a:rPr>
              <a:t>post_attention_rmsnorm</a:t>
            </a:r>
            <a:endParaRPr lang="en-US" altLang="zh-CN" dirty="0">
              <a:ea typeface="微软雅黑" panose="020B0503020204020204" charset="-122"/>
            </a:endParaRPr>
          </a:p>
          <a:p>
            <a:r>
              <a:rPr lang="en-US" altLang="zh-CN" dirty="0">
                <a:ea typeface="微软雅黑" panose="020B0503020204020204" charset="-122"/>
              </a:rPr>
              <a:t>[4096]</a:t>
            </a:r>
            <a:endParaRPr lang="en-US" altLang="zh-CN" dirty="0">
              <a:ea typeface="微软雅黑" panose="020B0503020204020204" charset="-122"/>
            </a:endParaRPr>
          </a:p>
        </p:txBody>
      </p:sp>
      <p:cxnSp>
        <p:nvCxnSpPr>
          <p:cNvPr id="88" name="直接箭头连接符 87"/>
          <p:cNvCxnSpPr/>
          <p:nvPr>
            <p:custDataLst>
              <p:tags r:id="rId19"/>
            </p:custDataLst>
          </p:nvPr>
        </p:nvCxnSpPr>
        <p:spPr>
          <a:xfrm flipH="1">
            <a:off x="2513562" y="3406999"/>
            <a:ext cx="635" cy="360000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sp>
        <p:nvSpPr>
          <p:cNvPr id="89" name="Google Shape;6480;p66"/>
          <p:cNvSpPr/>
          <p:nvPr>
            <p:custDataLst>
              <p:tags r:id="rId20"/>
            </p:custDataLst>
          </p:nvPr>
        </p:nvSpPr>
        <p:spPr>
          <a:xfrm>
            <a:off x="1552595" y="4494392"/>
            <a:ext cx="1921925" cy="448332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200">
              <a:buClr>
                <a:srgbClr val="000000"/>
              </a:buClr>
            </a:pPr>
            <a:r>
              <a:rPr lang="en-US" altLang="zh-CN" sz="1335" kern="0" dirty="0" err="1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post_norm_output</a:t>
            </a:r>
            <a:endParaRPr lang="en-US" altLang="zh-CN" sz="1335" kern="0" dirty="0">
              <a:solidFill>
                <a:srgbClr val="000000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  <a:p>
            <a:pPr algn="ctr" defTabSz="1219200">
              <a:buClr>
                <a:srgbClr val="000000"/>
              </a:buClr>
            </a:pPr>
            <a:r>
              <a:rPr lang="en-US" altLang="zh-CN" sz="1335" kern="0" dirty="0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[19,1,4096]</a:t>
            </a:r>
            <a:endParaRPr lang="en-US" altLang="zh-CN" sz="1335" kern="0" dirty="0">
              <a:solidFill>
                <a:srgbClr val="000000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90" name="直接箭头连接符 89"/>
          <p:cNvCxnSpPr>
            <a:stCxn id="87" idx="2"/>
            <a:endCxn id="89" idx="0"/>
          </p:cNvCxnSpPr>
          <p:nvPr>
            <p:custDataLst>
              <p:tags r:id="rId21"/>
            </p:custDataLst>
          </p:nvPr>
        </p:nvCxnSpPr>
        <p:spPr>
          <a:xfrm flipH="1">
            <a:off x="2513558" y="4243155"/>
            <a:ext cx="1" cy="251239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sp>
        <p:nvSpPr>
          <p:cNvPr id="91" name="文本框 90"/>
          <p:cNvSpPr txBox="1"/>
          <p:nvPr>
            <p:custDataLst>
              <p:tags r:id="rId22"/>
            </p:custDataLst>
          </p:nvPr>
        </p:nvSpPr>
        <p:spPr>
          <a:xfrm>
            <a:off x="146275" y="5209197"/>
            <a:ext cx="2292350" cy="561878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>
              <a:defRPr lang="zh-CN"/>
            </a:defPPr>
            <a:lvl1pPr algn="ctr" defTabSz="1219200">
              <a:buClr>
                <a:srgbClr val="000000"/>
              </a:buClr>
              <a:defRPr sz="1335" kern="0">
                <a:solidFill>
                  <a:srgbClr val="000000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r>
              <a:rPr lang="zh-CN" altLang="en-US" dirty="0">
                <a:ea typeface="微软雅黑" panose="020B0503020204020204" charset="-122"/>
              </a:rPr>
              <a:t>dense_h_to_4h_0</a:t>
            </a:r>
            <a:r>
              <a:rPr lang="en-US" altLang="zh-CN" dirty="0">
                <a:ea typeface="微软雅黑" panose="020B0503020204020204" charset="-122"/>
              </a:rPr>
              <a:t>(MVM)</a:t>
            </a:r>
            <a:endParaRPr lang="en-US" altLang="zh-CN" dirty="0">
              <a:ea typeface="微软雅黑" panose="020B0503020204020204" charset="-122"/>
            </a:endParaRPr>
          </a:p>
          <a:p>
            <a:r>
              <a:rPr lang="en-US" altLang="zh-CN" dirty="0">
                <a:ea typeface="微软雅黑" panose="020B0503020204020204" charset="-122"/>
              </a:rPr>
              <a:t>[4096,12288]</a:t>
            </a:r>
            <a:endParaRPr lang="zh-CN" altLang="en-US" dirty="0">
              <a:ea typeface="微软雅黑" panose="020B0503020204020204" charset="-122"/>
            </a:endParaRPr>
          </a:p>
        </p:txBody>
      </p:sp>
      <p:cxnSp>
        <p:nvCxnSpPr>
          <p:cNvPr id="92" name="直接箭头连接符 91"/>
          <p:cNvCxnSpPr>
            <a:stCxn id="89" idx="2"/>
            <a:endCxn id="91" idx="0"/>
          </p:cNvCxnSpPr>
          <p:nvPr>
            <p:custDataLst>
              <p:tags r:id="rId23"/>
            </p:custDataLst>
          </p:nvPr>
        </p:nvCxnSpPr>
        <p:spPr>
          <a:xfrm flipH="1">
            <a:off x="1292451" y="4942726"/>
            <a:ext cx="1221740" cy="266065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sp>
        <p:nvSpPr>
          <p:cNvPr id="93" name="Google Shape;6480;p66"/>
          <p:cNvSpPr/>
          <p:nvPr>
            <p:custDataLst>
              <p:tags r:id="rId24"/>
            </p:custDataLst>
          </p:nvPr>
        </p:nvSpPr>
        <p:spPr>
          <a:xfrm>
            <a:off x="346095" y="6031091"/>
            <a:ext cx="1921925" cy="448332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200">
              <a:buClr>
                <a:srgbClr val="000000"/>
              </a:buClr>
            </a:pPr>
            <a:r>
              <a:rPr lang="en-US" altLang="zh-CN" sz="1335" kern="0" dirty="0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Dense_4h_output</a:t>
            </a:r>
            <a:endParaRPr lang="en-US" altLang="zh-CN" sz="1335" kern="0" dirty="0">
              <a:solidFill>
                <a:srgbClr val="000000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  <a:p>
            <a:pPr algn="ctr" defTabSz="1219200">
              <a:buClr>
                <a:srgbClr val="000000"/>
              </a:buClr>
            </a:pPr>
            <a:r>
              <a:rPr lang="en-US" altLang="zh-CN" sz="1335" kern="0" dirty="0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[19,1,12288]</a:t>
            </a:r>
            <a:endParaRPr lang="en-US" altLang="zh-CN" sz="1335" kern="0" dirty="0">
              <a:solidFill>
                <a:srgbClr val="000000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94" name="直接箭头连接符 93"/>
          <p:cNvCxnSpPr>
            <a:stCxn id="91" idx="2"/>
            <a:endCxn id="93" idx="0"/>
          </p:cNvCxnSpPr>
          <p:nvPr>
            <p:custDataLst>
              <p:tags r:id="rId25"/>
            </p:custDataLst>
          </p:nvPr>
        </p:nvCxnSpPr>
        <p:spPr>
          <a:xfrm>
            <a:off x="1292450" y="5771075"/>
            <a:ext cx="15240" cy="260350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sp>
        <p:nvSpPr>
          <p:cNvPr id="95" name="文本框 94"/>
          <p:cNvSpPr txBox="1"/>
          <p:nvPr>
            <p:custDataLst>
              <p:tags r:id="rId26"/>
            </p:custDataLst>
          </p:nvPr>
        </p:nvSpPr>
        <p:spPr>
          <a:xfrm>
            <a:off x="146275" y="6737119"/>
            <a:ext cx="2292350" cy="365356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>
              <a:defRPr lang="zh-CN"/>
            </a:defPPr>
            <a:lvl1pPr algn="ctr" defTabSz="1219200">
              <a:buClr>
                <a:srgbClr val="000000"/>
              </a:buClr>
              <a:defRPr sz="1335" kern="0">
                <a:solidFill>
                  <a:srgbClr val="000000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r>
              <a:rPr lang="en-US" altLang="zh-CN" dirty="0" err="1">
                <a:ea typeface="微软雅黑" panose="020B0503020204020204" charset="-122"/>
              </a:rPr>
              <a:t>Silu</a:t>
            </a:r>
            <a:r>
              <a:rPr lang="en-US" altLang="zh-CN" dirty="0">
                <a:ea typeface="微软雅黑" panose="020B0503020204020204" charset="-122"/>
              </a:rPr>
              <a:t> (ACT)</a:t>
            </a:r>
            <a:endParaRPr lang="en-US" altLang="zh-CN" dirty="0">
              <a:ea typeface="微软雅黑" panose="020B0503020204020204" charset="-122"/>
            </a:endParaRPr>
          </a:p>
        </p:txBody>
      </p:sp>
      <p:cxnSp>
        <p:nvCxnSpPr>
          <p:cNvPr id="96" name="直接箭头连接符 95"/>
          <p:cNvCxnSpPr>
            <a:stCxn id="93" idx="2"/>
            <a:endCxn id="95" idx="0"/>
          </p:cNvCxnSpPr>
          <p:nvPr>
            <p:custDataLst>
              <p:tags r:id="rId27"/>
            </p:custDataLst>
          </p:nvPr>
        </p:nvCxnSpPr>
        <p:spPr>
          <a:xfrm flipH="1">
            <a:off x="1292451" y="6479423"/>
            <a:ext cx="15240" cy="257810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sp>
        <p:nvSpPr>
          <p:cNvPr id="97" name="Google Shape;6480;p66"/>
          <p:cNvSpPr/>
          <p:nvPr>
            <p:custDataLst>
              <p:tags r:id="rId28"/>
            </p:custDataLst>
          </p:nvPr>
        </p:nvSpPr>
        <p:spPr>
          <a:xfrm>
            <a:off x="346094" y="7340715"/>
            <a:ext cx="1921925" cy="448332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200">
              <a:buClr>
                <a:srgbClr val="000000"/>
              </a:buClr>
            </a:pPr>
            <a:r>
              <a:rPr lang="en-US" altLang="zh-CN" sz="1335" kern="0" dirty="0" err="1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ACT_output</a:t>
            </a:r>
            <a:endParaRPr lang="en-US" altLang="zh-CN" sz="1335" kern="0" dirty="0">
              <a:solidFill>
                <a:srgbClr val="000000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  <a:p>
            <a:pPr algn="ctr" defTabSz="1219200">
              <a:buClr>
                <a:srgbClr val="000000"/>
              </a:buClr>
            </a:pPr>
            <a:r>
              <a:rPr lang="en-US" altLang="zh-CN" sz="1335" kern="0" dirty="0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[19,1,12288]</a:t>
            </a:r>
            <a:endParaRPr lang="en-US" altLang="zh-CN" sz="1335" kern="0" dirty="0">
              <a:solidFill>
                <a:srgbClr val="000000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98" name="直接箭头连接符 97"/>
          <p:cNvCxnSpPr>
            <a:stCxn id="95" idx="2"/>
            <a:endCxn id="97" idx="0"/>
          </p:cNvCxnSpPr>
          <p:nvPr>
            <p:custDataLst>
              <p:tags r:id="rId29"/>
            </p:custDataLst>
          </p:nvPr>
        </p:nvCxnSpPr>
        <p:spPr>
          <a:xfrm>
            <a:off x="1292450" y="7102477"/>
            <a:ext cx="15240" cy="238125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sp>
        <p:nvSpPr>
          <p:cNvPr id="99" name="文本框 98"/>
          <p:cNvSpPr txBox="1"/>
          <p:nvPr>
            <p:custDataLst>
              <p:tags r:id="rId30"/>
            </p:custDataLst>
          </p:nvPr>
        </p:nvSpPr>
        <p:spPr>
          <a:xfrm>
            <a:off x="1352774" y="8033554"/>
            <a:ext cx="2292350" cy="561878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>
              <a:defRPr lang="zh-CN"/>
            </a:defPPr>
            <a:lvl1pPr algn="ctr" defTabSz="1219200">
              <a:buClr>
                <a:srgbClr val="000000"/>
              </a:buClr>
              <a:defRPr sz="1335" kern="0">
                <a:solidFill>
                  <a:srgbClr val="000000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r>
              <a:rPr lang="zh-CN" altLang="en-US" dirty="0">
                <a:ea typeface="微软雅黑" panose="020B0503020204020204" charset="-122"/>
              </a:rPr>
              <a:t>dense_</a:t>
            </a:r>
            <a:r>
              <a:rPr lang="en-US" altLang="zh-CN" dirty="0">
                <a:ea typeface="微软雅黑" panose="020B0503020204020204" charset="-122"/>
              </a:rPr>
              <a:t>4</a:t>
            </a:r>
            <a:r>
              <a:rPr lang="zh-CN" altLang="en-US" dirty="0">
                <a:ea typeface="微软雅黑" panose="020B0503020204020204" charset="-122"/>
              </a:rPr>
              <a:t>h_to_h_0</a:t>
            </a:r>
            <a:r>
              <a:rPr lang="en-US" altLang="zh-CN" dirty="0">
                <a:ea typeface="微软雅黑" panose="020B0503020204020204" charset="-122"/>
              </a:rPr>
              <a:t>(MVM)</a:t>
            </a:r>
            <a:endParaRPr lang="en-US" altLang="zh-CN" dirty="0">
              <a:ea typeface="微软雅黑" panose="020B0503020204020204" charset="-122"/>
            </a:endParaRPr>
          </a:p>
          <a:p>
            <a:r>
              <a:rPr lang="en-US" altLang="zh-CN" dirty="0">
                <a:ea typeface="微软雅黑" panose="020B0503020204020204" charset="-122"/>
              </a:rPr>
              <a:t>[12288,4096]</a:t>
            </a:r>
            <a:endParaRPr lang="zh-CN" altLang="en-US" dirty="0">
              <a:ea typeface="微软雅黑" panose="020B0503020204020204" charset="-122"/>
            </a:endParaRPr>
          </a:p>
        </p:txBody>
      </p:sp>
      <p:sp>
        <p:nvSpPr>
          <p:cNvPr id="101" name="Google Shape;6480;p66"/>
          <p:cNvSpPr/>
          <p:nvPr>
            <p:custDataLst>
              <p:tags r:id="rId31"/>
            </p:custDataLst>
          </p:nvPr>
        </p:nvSpPr>
        <p:spPr>
          <a:xfrm>
            <a:off x="1552594" y="8814885"/>
            <a:ext cx="1921925" cy="448332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200">
              <a:buClr>
                <a:srgbClr val="000000"/>
              </a:buClr>
            </a:pPr>
            <a:r>
              <a:rPr lang="en-US" altLang="zh-CN" sz="1335" kern="0" dirty="0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Attention Scores</a:t>
            </a:r>
            <a:endParaRPr lang="en-US" altLang="zh-CN" sz="1335" kern="0" dirty="0">
              <a:solidFill>
                <a:srgbClr val="000000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  <a:p>
            <a:pPr algn="ctr" defTabSz="1219200">
              <a:buClr>
                <a:srgbClr val="000000"/>
              </a:buClr>
            </a:pPr>
            <a:r>
              <a:rPr lang="en-US" altLang="zh-CN" sz="1335" kern="0" dirty="0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[19,1,4096]</a:t>
            </a:r>
            <a:endParaRPr lang="en-US" altLang="zh-CN" sz="1335" kern="0" dirty="0">
              <a:solidFill>
                <a:srgbClr val="000000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02" name="直接箭头连接符 101"/>
          <p:cNvCxnSpPr>
            <a:endCxn id="101" idx="0"/>
          </p:cNvCxnSpPr>
          <p:nvPr>
            <p:custDataLst>
              <p:tags r:id="rId32"/>
            </p:custDataLst>
          </p:nvPr>
        </p:nvCxnSpPr>
        <p:spPr>
          <a:xfrm>
            <a:off x="2513555" y="8595652"/>
            <a:ext cx="0" cy="219235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sp>
        <p:nvSpPr>
          <p:cNvPr id="105" name="文本框 104"/>
          <p:cNvSpPr txBox="1"/>
          <p:nvPr>
            <p:custDataLst>
              <p:tags r:id="rId33"/>
            </p:custDataLst>
          </p:nvPr>
        </p:nvSpPr>
        <p:spPr>
          <a:xfrm>
            <a:off x="4961890" y="3766822"/>
            <a:ext cx="1489710" cy="583565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defTabSz="914400"/>
            <a:r>
              <a:rPr lang="en-US" altLang="zh-CN" sz="1600" dirty="0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  <a:sym typeface="+mn-ea"/>
              </a:rPr>
              <a:t>step-14</a:t>
            </a:r>
            <a:r>
              <a:rPr lang="zh-CN" altLang="en-US" sz="1600" dirty="0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  <a:sym typeface="+mn-ea"/>
              </a:rPr>
              <a:t>：</a:t>
            </a:r>
            <a:r>
              <a:rPr lang="en-US" altLang="zh-CN" sz="1600" dirty="0">
                <a:solidFill>
                  <a:srgbClr val="FF0000"/>
                </a:solidFill>
                <a:latin typeface="Arial" panose="020B0604020202020204"/>
                <a:ea typeface="微软雅黑" panose="020B0503020204020204" charset="-122"/>
                <a:sym typeface="+mn-ea"/>
              </a:rPr>
              <a:t>LN1</a:t>
            </a:r>
            <a:endParaRPr lang="en-US" altLang="zh-CN" sz="1600" dirty="0">
              <a:solidFill>
                <a:prstClr val="black"/>
              </a:solidFill>
              <a:latin typeface="Arial" panose="020B0604020202020204"/>
              <a:ea typeface="微软雅黑" panose="020B0503020204020204" charset="-122"/>
              <a:sym typeface="+mn-ea"/>
            </a:endParaRPr>
          </a:p>
          <a:p>
            <a:pPr defTabSz="914400"/>
            <a:r>
              <a:rPr lang="en-US" altLang="zh-CN" sz="1600" dirty="0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  <a:sym typeface="+mn-ea"/>
              </a:rPr>
              <a:t>RMSNorm</a:t>
            </a:r>
            <a:endParaRPr lang="en-US" altLang="zh-CN" sz="1600" dirty="0">
              <a:solidFill>
                <a:prstClr val="black"/>
              </a:solidFill>
              <a:latin typeface="Arial" panose="020B0604020202020204"/>
              <a:ea typeface="微软雅黑" panose="020B0503020204020204" charset="-122"/>
              <a:sym typeface="+mn-ea"/>
            </a:endParaRPr>
          </a:p>
        </p:txBody>
      </p:sp>
      <p:cxnSp>
        <p:nvCxnSpPr>
          <p:cNvPr id="109" name="直接箭头连接符 108"/>
          <p:cNvCxnSpPr/>
          <p:nvPr>
            <p:custDataLst>
              <p:tags r:id="rId34"/>
            </p:custDataLst>
          </p:nvPr>
        </p:nvCxnSpPr>
        <p:spPr>
          <a:xfrm flipH="1">
            <a:off x="3968117" y="4025902"/>
            <a:ext cx="993775" cy="23495"/>
          </a:xfrm>
          <a:prstGeom prst="straightConnector1">
            <a:avLst/>
          </a:prstGeom>
          <a:noFill/>
          <a:ln w="76200" cap="flat" cmpd="sng" algn="ctr">
            <a:solidFill>
              <a:srgbClr val="92D050"/>
            </a:solidFill>
            <a:prstDash val="solid"/>
            <a:tailEnd type="arrow"/>
          </a:ln>
          <a:effectLst/>
        </p:spPr>
      </p:cxnSp>
      <p:sp>
        <p:nvSpPr>
          <p:cNvPr id="137" name="Google Shape;6480;p66"/>
          <p:cNvSpPr/>
          <p:nvPr>
            <p:custDataLst>
              <p:tags r:id="rId35"/>
            </p:custDataLst>
          </p:nvPr>
        </p:nvSpPr>
        <p:spPr>
          <a:xfrm>
            <a:off x="1367334" y="9420119"/>
            <a:ext cx="2277447" cy="448332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200">
              <a:buClr>
                <a:srgbClr val="000000"/>
              </a:buClr>
            </a:pPr>
            <a:r>
              <a:rPr lang="en-US" altLang="zh-CN" sz="1335" kern="0" dirty="0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Next Embedded input</a:t>
            </a:r>
            <a:endParaRPr lang="en-US" altLang="zh-CN" sz="1335" kern="0" dirty="0">
              <a:solidFill>
                <a:srgbClr val="000000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  <a:p>
            <a:pPr algn="ctr" defTabSz="1219200">
              <a:buClr>
                <a:srgbClr val="000000"/>
              </a:buClr>
            </a:pPr>
            <a:r>
              <a:rPr lang="en-US" altLang="zh-CN" sz="1335" kern="0" dirty="0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[20,1,4096]</a:t>
            </a:r>
            <a:endParaRPr lang="en-US" altLang="zh-CN" sz="1335" kern="0" dirty="0">
              <a:solidFill>
                <a:srgbClr val="000000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41" name="直接箭头连接符 140"/>
          <p:cNvCxnSpPr/>
          <p:nvPr>
            <p:custDataLst>
              <p:tags r:id="rId36"/>
            </p:custDataLst>
          </p:nvPr>
        </p:nvCxnSpPr>
        <p:spPr>
          <a:xfrm flipH="1">
            <a:off x="2500855" y="9263672"/>
            <a:ext cx="12700" cy="156845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sp>
        <p:nvSpPr>
          <p:cNvPr id="142" name="文本框 141"/>
          <p:cNvSpPr txBox="1"/>
          <p:nvPr>
            <p:custDataLst>
              <p:tags r:id="rId37"/>
            </p:custDataLst>
          </p:nvPr>
        </p:nvSpPr>
        <p:spPr>
          <a:xfrm>
            <a:off x="4511040" y="9420225"/>
            <a:ext cx="1311910" cy="415290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noAutofit/>
          </a:bodyPr>
          <a:lstStyle/>
          <a:p>
            <a:pPr defTabSz="914400"/>
            <a:r>
              <a:rPr lang="en-US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</a:rPr>
              <a:t>CPU</a:t>
            </a:r>
            <a:r>
              <a:rPr lang="zh-CN" altLang="en-US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</a:rPr>
              <a:t>处理</a:t>
            </a:r>
            <a:endParaRPr lang="zh-CN" altLang="en-US">
              <a:solidFill>
                <a:prstClr val="black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cxnSp>
        <p:nvCxnSpPr>
          <p:cNvPr id="143" name="连接符: 肘形 36"/>
          <p:cNvCxnSpPr>
            <a:endCxn id="99" idx="3"/>
          </p:cNvCxnSpPr>
          <p:nvPr>
            <p:custDataLst>
              <p:tags r:id="rId38"/>
            </p:custDataLst>
          </p:nvPr>
        </p:nvCxnSpPr>
        <p:spPr>
          <a:xfrm rot="5400000">
            <a:off x="1758950" y="5111750"/>
            <a:ext cx="5088890" cy="1316990"/>
          </a:xfrm>
          <a:prstGeom prst="bentConnector2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cxnSp>
        <p:nvCxnSpPr>
          <p:cNvPr id="144" name="直接连接符 143"/>
          <p:cNvCxnSpPr>
            <a:stCxn id="26" idx="3"/>
          </p:cNvCxnSpPr>
          <p:nvPr/>
        </p:nvCxnSpPr>
        <p:spPr>
          <a:xfrm>
            <a:off x="3561717" y="3216275"/>
            <a:ext cx="138239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5" name="文本框 144"/>
          <p:cNvSpPr txBox="1"/>
          <p:nvPr>
            <p:custDataLst>
              <p:tags r:id="rId39"/>
            </p:custDataLst>
          </p:nvPr>
        </p:nvSpPr>
        <p:spPr>
          <a:xfrm>
            <a:off x="-8255" y="6031230"/>
            <a:ext cx="2876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altLang="zh-CN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</a:rPr>
              <a:t>J</a:t>
            </a:r>
            <a:endParaRPr lang="en-US" altLang="zh-CN">
              <a:solidFill>
                <a:prstClr val="black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46" name="文本框 145"/>
          <p:cNvSpPr txBox="1"/>
          <p:nvPr>
            <p:custDataLst>
              <p:tags r:id="rId40"/>
            </p:custDataLst>
          </p:nvPr>
        </p:nvSpPr>
        <p:spPr>
          <a:xfrm>
            <a:off x="34927" y="7340600"/>
            <a:ext cx="2876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altLang="zh-CN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</a:rPr>
              <a:t>K</a:t>
            </a:r>
            <a:endParaRPr lang="en-US" altLang="zh-CN">
              <a:solidFill>
                <a:prstClr val="black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47" name="文本框 146"/>
          <p:cNvSpPr txBox="1"/>
          <p:nvPr>
            <p:custDataLst>
              <p:tags r:id="rId41"/>
            </p:custDataLst>
          </p:nvPr>
        </p:nvSpPr>
        <p:spPr>
          <a:xfrm>
            <a:off x="67312" y="4494530"/>
            <a:ext cx="2876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altLang="zh-CN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</a:rPr>
              <a:t>I</a:t>
            </a:r>
            <a:endParaRPr lang="en-US" altLang="zh-CN">
              <a:solidFill>
                <a:prstClr val="black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48" name="文本框 147"/>
          <p:cNvSpPr txBox="1"/>
          <p:nvPr>
            <p:custDataLst>
              <p:tags r:id="rId42"/>
            </p:custDataLst>
          </p:nvPr>
        </p:nvSpPr>
        <p:spPr>
          <a:xfrm>
            <a:off x="34927" y="8815070"/>
            <a:ext cx="2876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altLang="zh-CN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</a:rPr>
              <a:t>L</a:t>
            </a:r>
            <a:endParaRPr lang="en-US" altLang="zh-CN">
              <a:solidFill>
                <a:prstClr val="black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49" name="灯片编号占位符 148"/>
          <p:cNvSpPr>
            <a:spLocks noGrp="1"/>
          </p:cNvSpPr>
          <p:nvPr>
            <p:ph type="sldNum" sz="quarter" idx="12"/>
          </p:nvPr>
        </p:nvSpPr>
        <p:spPr>
          <a:xfrm>
            <a:off x="4434850" y="9119013"/>
            <a:ext cx="1518750" cy="457510"/>
          </a:xfrm>
        </p:spPr>
        <p:txBody>
          <a:bodyPr/>
          <a:lstStyle/>
          <a:p>
            <a:pPr defTabSz="914400"/>
            <a:fld id="{49AE70B2-8BF9-45C0-BB95-33D1B9D3A854}" type="slidenum">
              <a:rPr lang="zh-CN" altLang="en-US">
                <a:solidFill>
                  <a:prstClr val="black">
                    <a:tint val="75000"/>
                  </a:prstClr>
                </a:solidFill>
                <a:latin typeface="Arial" panose="020B0604020202020204"/>
                <a:ea typeface="微软雅黑" panose="020B0503020204020204" charset="-122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86997" y="-741045"/>
            <a:ext cx="67710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zh-CN" altLang="en-US" sz="3600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</a:rPr>
              <a:t>阅读模式，</a:t>
            </a:r>
            <a:r>
              <a:rPr lang="en-US" altLang="zh-CN" sz="3600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</a:rPr>
              <a:t>KV_cache_mode=0</a:t>
            </a:r>
            <a:endParaRPr lang="en-US" altLang="zh-CN" sz="3600">
              <a:solidFill>
                <a:prstClr val="black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43"/>
            </p:custDataLst>
          </p:nvPr>
        </p:nvSpPr>
        <p:spPr>
          <a:xfrm>
            <a:off x="2650715" y="5209197"/>
            <a:ext cx="2292350" cy="561878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>
              <a:defRPr lang="zh-CN"/>
            </a:defPPr>
            <a:lvl1pPr algn="ctr" defTabSz="1219200">
              <a:buClr>
                <a:srgbClr val="000000"/>
              </a:buClr>
              <a:defRPr sz="1335" kern="0">
                <a:solidFill>
                  <a:srgbClr val="000000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r>
              <a:rPr lang="zh-CN" altLang="en-US" dirty="0">
                <a:ea typeface="微软雅黑" panose="020B0503020204020204" charset="-122"/>
              </a:rPr>
              <a:t>dense_h_to_4h_0</a:t>
            </a:r>
            <a:r>
              <a:rPr lang="en-US" altLang="zh-CN" dirty="0">
                <a:ea typeface="微软雅黑" panose="020B0503020204020204" charset="-122"/>
              </a:rPr>
              <a:t>(MVM)</a:t>
            </a:r>
            <a:endParaRPr lang="en-US" altLang="zh-CN" dirty="0">
              <a:ea typeface="微软雅黑" panose="020B0503020204020204" charset="-122"/>
            </a:endParaRPr>
          </a:p>
          <a:p>
            <a:r>
              <a:rPr lang="en-US" altLang="zh-CN" dirty="0">
                <a:ea typeface="微软雅黑" panose="020B0503020204020204" charset="-122"/>
                <a:sym typeface="+mn-ea"/>
              </a:rPr>
              <a:t>[4096,12288]</a:t>
            </a:r>
            <a:endParaRPr lang="zh-CN" altLang="en-US" dirty="0">
              <a:ea typeface="微软雅黑" panose="020B0503020204020204" charset="-122"/>
            </a:endParaRPr>
          </a:p>
        </p:txBody>
      </p:sp>
      <p:cxnSp>
        <p:nvCxnSpPr>
          <p:cNvPr id="6" name="直接箭头连接符 5"/>
          <p:cNvCxnSpPr>
            <a:endCxn id="2" idx="0"/>
          </p:cNvCxnSpPr>
          <p:nvPr>
            <p:custDataLst>
              <p:tags r:id="rId44"/>
            </p:custDataLst>
          </p:nvPr>
        </p:nvCxnSpPr>
        <p:spPr>
          <a:xfrm>
            <a:off x="2501491" y="4943996"/>
            <a:ext cx="1295400" cy="264795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sp>
        <p:nvSpPr>
          <p:cNvPr id="8" name="Google Shape;6480;p66"/>
          <p:cNvSpPr/>
          <p:nvPr>
            <p:custDataLst>
              <p:tags r:id="rId45"/>
            </p:custDataLst>
          </p:nvPr>
        </p:nvSpPr>
        <p:spPr>
          <a:xfrm>
            <a:off x="2807355" y="6031091"/>
            <a:ext cx="1921925" cy="448332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200">
              <a:buClr>
                <a:srgbClr val="000000"/>
              </a:buClr>
            </a:pPr>
            <a:r>
              <a:rPr lang="en-US" altLang="zh-CN" sz="1335" kern="0" dirty="0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Dense_4h_output</a:t>
            </a:r>
            <a:endParaRPr lang="en-US" altLang="zh-CN" sz="1335" kern="0" dirty="0">
              <a:solidFill>
                <a:srgbClr val="000000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  <a:p>
            <a:pPr algn="ctr" defTabSz="1219200">
              <a:buClr>
                <a:srgbClr val="000000"/>
              </a:buClr>
            </a:pPr>
            <a:r>
              <a:rPr lang="en-US" altLang="zh-CN" sz="1335" kern="0" dirty="0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[19,1,12288]</a:t>
            </a:r>
            <a:endParaRPr lang="en-US" altLang="zh-CN" sz="1335" kern="0" dirty="0">
              <a:solidFill>
                <a:srgbClr val="000000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9" name="直接箭头连接符 8"/>
          <p:cNvCxnSpPr>
            <a:endCxn id="8" idx="0"/>
          </p:cNvCxnSpPr>
          <p:nvPr>
            <p:custDataLst>
              <p:tags r:id="rId46"/>
            </p:custDataLst>
          </p:nvPr>
        </p:nvCxnSpPr>
        <p:spPr>
          <a:xfrm>
            <a:off x="3753710" y="5771075"/>
            <a:ext cx="15240" cy="260350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sp>
        <p:nvSpPr>
          <p:cNvPr id="10" name="文本框 9"/>
          <p:cNvSpPr txBox="1"/>
          <p:nvPr>
            <p:custDataLst>
              <p:tags r:id="rId47"/>
            </p:custDataLst>
          </p:nvPr>
        </p:nvSpPr>
        <p:spPr>
          <a:xfrm>
            <a:off x="2740662" y="6739890"/>
            <a:ext cx="1922145" cy="34671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>
              <a:defRPr lang="zh-CN"/>
            </a:defPPr>
            <a:lvl1pPr algn="ctr" defTabSz="1219200">
              <a:buClr>
                <a:srgbClr val="000000"/>
              </a:buClr>
              <a:defRPr sz="1335" kern="0">
                <a:solidFill>
                  <a:srgbClr val="000000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r>
              <a:rPr lang="en-US" altLang="zh-CN" dirty="0">
                <a:ea typeface="微软雅黑" panose="020B0503020204020204" charset="-122"/>
                <a:sym typeface="+mn-ea"/>
              </a:rPr>
              <a:t>elemnetwise multiply</a:t>
            </a:r>
            <a:endParaRPr lang="en-US" altLang="zh-CN" dirty="0">
              <a:ea typeface="微软雅黑" panose="020B0503020204020204" charset="-122"/>
              <a:sym typeface="+mn-ea"/>
            </a:endParaRPr>
          </a:p>
        </p:txBody>
      </p:sp>
      <p:cxnSp>
        <p:nvCxnSpPr>
          <p:cNvPr id="11" name="直接箭头连接符 10"/>
          <p:cNvCxnSpPr/>
          <p:nvPr>
            <p:custDataLst>
              <p:tags r:id="rId48"/>
            </p:custDataLst>
          </p:nvPr>
        </p:nvCxnSpPr>
        <p:spPr>
          <a:xfrm>
            <a:off x="3730215" y="6479735"/>
            <a:ext cx="15240" cy="260350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cxnSp>
        <p:nvCxnSpPr>
          <p:cNvPr id="12" name="肘形连接符 11"/>
          <p:cNvCxnSpPr>
            <a:stCxn id="97" idx="3"/>
            <a:endCxn id="10" idx="1"/>
          </p:cNvCxnSpPr>
          <p:nvPr/>
        </p:nvCxnSpPr>
        <p:spPr>
          <a:xfrm flipV="1">
            <a:off x="2268220" y="6913245"/>
            <a:ext cx="472440" cy="65151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>
            <a:stCxn id="10" idx="2"/>
            <a:endCxn id="14" idx="0"/>
          </p:cNvCxnSpPr>
          <p:nvPr>
            <p:custDataLst>
              <p:tags r:id="rId49"/>
            </p:custDataLst>
          </p:nvPr>
        </p:nvCxnSpPr>
        <p:spPr>
          <a:xfrm flipH="1">
            <a:off x="3694022" y="7086795"/>
            <a:ext cx="8255" cy="173990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sp>
        <p:nvSpPr>
          <p:cNvPr id="14" name="Google Shape;6480;p66"/>
          <p:cNvSpPr/>
          <p:nvPr>
            <p:custDataLst>
              <p:tags r:id="rId50"/>
            </p:custDataLst>
          </p:nvPr>
        </p:nvSpPr>
        <p:spPr>
          <a:xfrm>
            <a:off x="2732424" y="7260705"/>
            <a:ext cx="1921925" cy="448332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200">
              <a:buClr>
                <a:srgbClr val="000000"/>
              </a:buClr>
            </a:pPr>
            <a:r>
              <a:rPr lang="en-US" altLang="zh-CN" sz="1335" kern="0" dirty="0" err="1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output</a:t>
            </a:r>
            <a:endParaRPr lang="en-US" altLang="zh-CN" sz="1335" kern="0" dirty="0">
              <a:solidFill>
                <a:srgbClr val="000000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  <a:p>
            <a:pPr algn="ctr" defTabSz="1219200">
              <a:buClr>
                <a:srgbClr val="000000"/>
              </a:buClr>
            </a:pPr>
            <a:r>
              <a:rPr lang="en-US" altLang="zh-CN" sz="1335" kern="0" dirty="0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[19,1,12288]</a:t>
            </a:r>
            <a:endParaRPr lang="en-US" altLang="zh-CN" sz="1335" kern="0" dirty="0">
              <a:solidFill>
                <a:srgbClr val="000000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6" name="肘形连接符 15"/>
          <p:cNvCxnSpPr>
            <a:stCxn id="14" idx="2"/>
            <a:endCxn id="99" idx="0"/>
          </p:cNvCxnSpPr>
          <p:nvPr/>
        </p:nvCxnSpPr>
        <p:spPr>
          <a:xfrm rot="5400000">
            <a:off x="2934020" y="7273608"/>
            <a:ext cx="324485" cy="119507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>
            <p:custDataLst>
              <p:tags r:id="rId51"/>
            </p:custDataLst>
          </p:nvPr>
        </p:nvSpPr>
        <p:spPr>
          <a:xfrm>
            <a:off x="-1873885" y="5119370"/>
            <a:ext cx="1212215" cy="651510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noAutofit/>
          </a:bodyPr>
          <a:lstStyle/>
          <a:p>
            <a:pPr algn="ctr" defTabSz="914400"/>
            <a:r>
              <a:rPr lang="en-US" altLang="zh-CN" sz="1600" dirty="0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  <a:sym typeface="+mn-ea"/>
              </a:rPr>
              <a:t>step-15</a:t>
            </a:r>
            <a:r>
              <a:rPr lang="zh-CN" altLang="en-US" sz="1600" dirty="0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  <a:sym typeface="+mn-ea"/>
              </a:rPr>
              <a:t>：</a:t>
            </a:r>
            <a:r>
              <a:rPr lang="en-US" sz="1600" dirty="0">
                <a:solidFill>
                  <a:srgbClr val="FF0000"/>
                </a:solidFill>
                <a:latin typeface="Arial" panose="020B0604020202020204"/>
                <a:ea typeface="微软雅黑" panose="020B0503020204020204" charset="-122"/>
              </a:rPr>
              <a:t>MVMBN2</a:t>
            </a:r>
            <a:endParaRPr lang="en-US" altLang="zh-CN" sz="1600" dirty="0">
              <a:solidFill>
                <a:srgbClr val="FF0000"/>
              </a:solidFill>
              <a:latin typeface="Arial" panose="020B0604020202020204"/>
              <a:ea typeface="微软雅黑" panose="020B0503020204020204" charset="-122"/>
              <a:sym typeface="+mn-ea"/>
            </a:endParaRPr>
          </a:p>
        </p:txBody>
      </p:sp>
      <p:cxnSp>
        <p:nvCxnSpPr>
          <p:cNvPr id="18" name="直接箭头连接符 17"/>
          <p:cNvCxnSpPr/>
          <p:nvPr>
            <p:custDataLst>
              <p:tags r:id="rId52"/>
            </p:custDataLst>
          </p:nvPr>
        </p:nvCxnSpPr>
        <p:spPr>
          <a:xfrm flipV="1">
            <a:off x="-661670" y="5488307"/>
            <a:ext cx="696595" cy="8255"/>
          </a:xfrm>
          <a:prstGeom prst="straightConnector1">
            <a:avLst/>
          </a:prstGeom>
          <a:noFill/>
          <a:ln w="76200" cap="flat" cmpd="sng" algn="ctr">
            <a:solidFill>
              <a:srgbClr val="92D050"/>
            </a:solidFill>
            <a:prstDash val="solid"/>
            <a:tailEnd type="arrow"/>
          </a:ln>
          <a:effectLst/>
        </p:spPr>
      </p:cxnSp>
      <p:sp>
        <p:nvSpPr>
          <p:cNvPr id="20" name="文本框 19"/>
          <p:cNvSpPr txBox="1"/>
          <p:nvPr>
            <p:custDataLst>
              <p:tags r:id="rId53"/>
            </p:custDataLst>
          </p:nvPr>
        </p:nvSpPr>
        <p:spPr>
          <a:xfrm>
            <a:off x="-1821815" y="6536055"/>
            <a:ext cx="1212215" cy="651510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noAutofit/>
          </a:bodyPr>
          <a:lstStyle/>
          <a:p>
            <a:pPr algn="ctr" defTabSz="914400"/>
            <a:r>
              <a:rPr lang="en-US" altLang="zh-CN" sz="1600" dirty="0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  <a:sym typeface="+mn-ea"/>
              </a:rPr>
              <a:t>step-16</a:t>
            </a:r>
            <a:r>
              <a:rPr lang="zh-CN" altLang="en-US" sz="1600" dirty="0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  <a:sym typeface="+mn-ea"/>
              </a:rPr>
              <a:t>：</a:t>
            </a:r>
            <a:endParaRPr lang="zh-CN" altLang="en-US" sz="1600" dirty="0">
              <a:solidFill>
                <a:prstClr val="black"/>
              </a:solidFill>
              <a:latin typeface="Arial" panose="020B0604020202020204"/>
              <a:ea typeface="微软雅黑" panose="020B0503020204020204" charset="-122"/>
              <a:sym typeface="+mn-ea"/>
            </a:endParaRPr>
          </a:p>
          <a:p>
            <a:pPr algn="ctr" defTabSz="914400"/>
            <a:r>
              <a:rPr lang="en-US" altLang="zh-CN" sz="1600" dirty="0">
                <a:solidFill>
                  <a:srgbClr val="FF0000"/>
                </a:solidFill>
                <a:latin typeface="Arial" panose="020B0604020202020204"/>
                <a:ea typeface="微软雅黑" panose="020B0503020204020204" charset="-122"/>
                <a:sym typeface="+mn-ea"/>
              </a:rPr>
              <a:t>Silu</a:t>
            </a:r>
            <a:endParaRPr lang="en-US" altLang="zh-CN" sz="1600" dirty="0">
              <a:solidFill>
                <a:srgbClr val="FF0000"/>
              </a:solidFill>
              <a:latin typeface="Arial" panose="020B0604020202020204"/>
              <a:ea typeface="微软雅黑" panose="020B0503020204020204" charset="-122"/>
              <a:sym typeface="+mn-ea"/>
            </a:endParaRPr>
          </a:p>
        </p:txBody>
      </p:sp>
      <p:cxnSp>
        <p:nvCxnSpPr>
          <p:cNvPr id="21" name="直接箭头连接符 20"/>
          <p:cNvCxnSpPr/>
          <p:nvPr>
            <p:custDataLst>
              <p:tags r:id="rId54"/>
            </p:custDataLst>
          </p:nvPr>
        </p:nvCxnSpPr>
        <p:spPr>
          <a:xfrm flipV="1">
            <a:off x="-609600" y="6904992"/>
            <a:ext cx="696595" cy="8255"/>
          </a:xfrm>
          <a:prstGeom prst="straightConnector1">
            <a:avLst/>
          </a:prstGeom>
          <a:noFill/>
          <a:ln w="76200" cap="flat" cmpd="sng" algn="ctr">
            <a:solidFill>
              <a:srgbClr val="92D050"/>
            </a:solidFill>
            <a:prstDash val="solid"/>
            <a:tailEnd type="arrow"/>
          </a:ln>
          <a:effectLst/>
        </p:spPr>
      </p:cxnSp>
      <p:grpSp>
        <p:nvGrpSpPr>
          <p:cNvPr id="27" name="组合 26"/>
          <p:cNvGrpSpPr/>
          <p:nvPr/>
        </p:nvGrpSpPr>
        <p:grpSpPr>
          <a:xfrm flipH="1">
            <a:off x="5003167" y="5119370"/>
            <a:ext cx="1908175" cy="651510"/>
            <a:chOff x="-2669" y="10493"/>
            <a:chExt cx="3005" cy="1026"/>
          </a:xfrm>
        </p:grpSpPr>
        <p:sp>
          <p:nvSpPr>
            <p:cNvPr id="23" name="文本框 22"/>
            <p:cNvSpPr txBox="1"/>
            <p:nvPr>
              <p:custDataLst>
                <p:tags r:id="rId55"/>
              </p:custDataLst>
            </p:nvPr>
          </p:nvSpPr>
          <p:spPr>
            <a:xfrm>
              <a:off x="-2669" y="10493"/>
              <a:ext cx="1909" cy="1026"/>
            </a:xfrm>
            <a:prstGeom prst="rect">
              <a:avLst/>
            </a:prstGeom>
            <a:solidFill>
              <a:srgbClr val="92D050"/>
            </a:solidFill>
          </p:spPr>
          <p:txBody>
            <a:bodyPr wrap="square" rtlCol="0">
              <a:noAutofit/>
            </a:bodyPr>
            <a:lstStyle/>
            <a:p>
              <a:pPr algn="ctr" defTabSz="914400"/>
              <a:r>
                <a:rPr lang="en-US" altLang="zh-CN" sz="1600" dirty="0">
                  <a:solidFill>
                    <a:prstClr val="black"/>
                  </a:solidFill>
                  <a:latin typeface="Arial" panose="020B0604020202020204"/>
                  <a:ea typeface="微软雅黑" panose="020B0503020204020204" charset="-122"/>
                  <a:sym typeface="+mn-ea"/>
                </a:rPr>
                <a:t>step-17</a:t>
              </a:r>
              <a:r>
                <a:rPr lang="zh-CN" altLang="en-US" sz="1600" dirty="0">
                  <a:solidFill>
                    <a:prstClr val="black"/>
                  </a:solidFill>
                  <a:latin typeface="Arial" panose="020B0604020202020204"/>
                  <a:ea typeface="微软雅黑" panose="020B0503020204020204" charset="-122"/>
                  <a:sym typeface="+mn-ea"/>
                </a:rPr>
                <a:t>：</a:t>
              </a:r>
              <a:endParaRPr lang="zh-CN" altLang="en-US" sz="1600" dirty="0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  <a:sym typeface="+mn-ea"/>
              </a:endParaRPr>
            </a:p>
            <a:p>
              <a:pPr algn="ctr" defTabSz="914400"/>
              <a:r>
                <a:rPr lang="en-US" altLang="zh-CN" sz="1600" dirty="0">
                  <a:solidFill>
                    <a:srgbClr val="FF0000"/>
                  </a:solidFill>
                  <a:latin typeface="Arial" panose="020B0604020202020204"/>
                  <a:ea typeface="微软雅黑" panose="020B0503020204020204" charset="-122"/>
                  <a:sym typeface="+mn-ea"/>
                </a:rPr>
                <a:t>MVMBN3</a:t>
              </a:r>
              <a:endParaRPr lang="en-US" altLang="zh-CN" sz="1600" dirty="0">
                <a:solidFill>
                  <a:srgbClr val="FF0000"/>
                </a:solidFill>
                <a:latin typeface="Arial" panose="020B0604020202020204"/>
                <a:ea typeface="微软雅黑" panose="020B0503020204020204" charset="-122"/>
                <a:sym typeface="+mn-ea"/>
              </a:endParaRPr>
            </a:p>
          </p:txBody>
        </p:sp>
        <p:cxnSp>
          <p:nvCxnSpPr>
            <p:cNvPr id="25" name="直接箭头连接符 24"/>
            <p:cNvCxnSpPr/>
            <p:nvPr>
              <p:custDataLst>
                <p:tags r:id="rId56"/>
              </p:custDataLst>
            </p:nvPr>
          </p:nvCxnSpPr>
          <p:spPr>
            <a:xfrm flipV="1">
              <a:off x="-760" y="11074"/>
              <a:ext cx="1097" cy="13"/>
            </a:xfrm>
            <a:prstGeom prst="straightConnector1">
              <a:avLst/>
            </a:prstGeom>
            <a:noFill/>
            <a:ln w="76200" cap="flat" cmpd="sng" algn="ctr">
              <a:solidFill>
                <a:srgbClr val="92D050"/>
              </a:solidFill>
              <a:prstDash val="solid"/>
              <a:tailEnd type="arrow"/>
            </a:ln>
            <a:effectLst/>
          </p:spPr>
        </p:cxnSp>
      </p:grpSp>
      <p:grpSp>
        <p:nvGrpSpPr>
          <p:cNvPr id="30" name="组合 29"/>
          <p:cNvGrpSpPr/>
          <p:nvPr/>
        </p:nvGrpSpPr>
        <p:grpSpPr>
          <a:xfrm flipH="1">
            <a:off x="4703447" y="6549981"/>
            <a:ext cx="1991360" cy="803910"/>
            <a:chOff x="-2799" y="10493"/>
            <a:chExt cx="3136" cy="1266"/>
          </a:xfrm>
        </p:grpSpPr>
        <p:sp>
          <p:nvSpPr>
            <p:cNvPr id="31" name="文本框 30"/>
            <p:cNvSpPr txBox="1"/>
            <p:nvPr>
              <p:custDataLst>
                <p:tags r:id="rId57"/>
              </p:custDataLst>
            </p:nvPr>
          </p:nvSpPr>
          <p:spPr>
            <a:xfrm>
              <a:off x="-2799" y="10493"/>
              <a:ext cx="2074" cy="1266"/>
            </a:xfrm>
            <a:prstGeom prst="rect">
              <a:avLst/>
            </a:prstGeom>
            <a:solidFill>
              <a:srgbClr val="92D050"/>
            </a:solidFill>
          </p:spPr>
          <p:txBody>
            <a:bodyPr wrap="square" rtlCol="0">
              <a:noAutofit/>
            </a:bodyPr>
            <a:lstStyle/>
            <a:p>
              <a:pPr algn="ctr" defTabSz="914400"/>
              <a:r>
                <a:rPr lang="en-US" altLang="zh-CN" sz="1600" dirty="0">
                  <a:solidFill>
                    <a:prstClr val="black"/>
                  </a:solidFill>
                  <a:latin typeface="Arial" panose="020B0604020202020204"/>
                  <a:ea typeface="微软雅黑" panose="020B0503020204020204" charset="-122"/>
                  <a:sym typeface="+mn-ea"/>
                </a:rPr>
                <a:t>step-18</a:t>
              </a:r>
              <a:r>
                <a:rPr lang="zh-CN" altLang="en-US" sz="1600" dirty="0">
                  <a:solidFill>
                    <a:prstClr val="black"/>
                  </a:solidFill>
                  <a:latin typeface="Arial" panose="020B0604020202020204"/>
                  <a:ea typeface="微软雅黑" panose="020B0503020204020204" charset="-122"/>
                  <a:sym typeface="+mn-ea"/>
                </a:rPr>
                <a:t>：</a:t>
              </a:r>
              <a:endParaRPr lang="zh-CN" altLang="en-US" sz="1600" dirty="0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  <a:sym typeface="+mn-ea"/>
              </a:endParaRPr>
            </a:p>
            <a:p>
              <a:pPr algn="ctr" defTabSz="914400"/>
              <a:r>
                <a:rPr lang="en-US" altLang="zh-CN" sz="1600" dirty="0">
                  <a:solidFill>
                    <a:srgbClr val="FF0000"/>
                  </a:solidFill>
                  <a:latin typeface="Arial" panose="020B0604020202020204"/>
                  <a:ea typeface="微软雅黑" panose="020B0503020204020204" charset="-122"/>
                  <a:sym typeface="+mn-ea"/>
                </a:rPr>
                <a:t>elementwise</a:t>
              </a:r>
              <a:endParaRPr lang="en-US" altLang="zh-CN" sz="1600" dirty="0">
                <a:solidFill>
                  <a:srgbClr val="FF0000"/>
                </a:solidFill>
                <a:latin typeface="Arial" panose="020B0604020202020204"/>
                <a:ea typeface="微软雅黑" panose="020B0503020204020204" charset="-122"/>
                <a:sym typeface="+mn-ea"/>
              </a:endParaRPr>
            </a:p>
            <a:p>
              <a:pPr algn="ctr" defTabSz="914400"/>
              <a:r>
                <a:rPr lang="en-US" altLang="zh-CN" sz="1600" dirty="0">
                  <a:solidFill>
                    <a:srgbClr val="FF0000"/>
                  </a:solidFill>
                  <a:latin typeface="Arial" panose="020B0604020202020204"/>
                  <a:ea typeface="微软雅黑" panose="020B0503020204020204" charset="-122"/>
                  <a:sym typeface="+mn-ea"/>
                </a:rPr>
                <a:t>multiply</a:t>
              </a:r>
              <a:endParaRPr lang="en-US" altLang="zh-CN" sz="1600" dirty="0">
                <a:solidFill>
                  <a:srgbClr val="FF0000"/>
                </a:solidFill>
                <a:latin typeface="Arial" panose="020B0604020202020204"/>
                <a:ea typeface="微软雅黑" panose="020B0503020204020204" charset="-122"/>
                <a:sym typeface="+mn-ea"/>
              </a:endParaRPr>
            </a:p>
          </p:txBody>
        </p:sp>
        <p:cxnSp>
          <p:nvCxnSpPr>
            <p:cNvPr id="37" name="直接箭头连接符 36"/>
            <p:cNvCxnSpPr/>
            <p:nvPr>
              <p:custDataLst>
                <p:tags r:id="rId58"/>
              </p:custDataLst>
            </p:nvPr>
          </p:nvCxnSpPr>
          <p:spPr>
            <a:xfrm flipV="1">
              <a:off x="-760" y="11074"/>
              <a:ext cx="1097" cy="13"/>
            </a:xfrm>
            <a:prstGeom prst="straightConnector1">
              <a:avLst/>
            </a:prstGeom>
            <a:noFill/>
            <a:ln w="76200" cap="flat" cmpd="sng" algn="ctr">
              <a:solidFill>
                <a:srgbClr val="92D050"/>
              </a:solidFill>
              <a:prstDash val="solid"/>
              <a:tailEnd type="arrow"/>
            </a:ln>
            <a:effectLst/>
          </p:spPr>
        </p:cxnSp>
      </p:grpSp>
      <p:sp>
        <p:nvSpPr>
          <p:cNvPr id="38" name="文本框 37"/>
          <p:cNvSpPr txBox="1"/>
          <p:nvPr>
            <p:custDataLst>
              <p:tags r:id="rId59"/>
            </p:custDataLst>
          </p:nvPr>
        </p:nvSpPr>
        <p:spPr>
          <a:xfrm>
            <a:off x="4803142" y="8314690"/>
            <a:ext cx="2409825" cy="544830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noAutofit/>
          </a:bodyPr>
          <a:lstStyle/>
          <a:p>
            <a:pPr defTabSz="914400"/>
            <a:r>
              <a:rPr lang="en-US" altLang="zh-CN" sz="1600" dirty="0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  <a:sym typeface="+mn-ea"/>
              </a:rPr>
              <a:t>step-19</a:t>
            </a:r>
            <a:r>
              <a:rPr lang="zh-CN" altLang="en-US" sz="1600" dirty="0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  <a:sym typeface="+mn-ea"/>
              </a:rPr>
              <a:t>：</a:t>
            </a:r>
            <a:r>
              <a:rPr lang="en-US" sz="1600" dirty="0">
                <a:solidFill>
                  <a:srgbClr val="FF0000"/>
                </a:solidFill>
                <a:latin typeface="Arial" panose="020B0604020202020204"/>
                <a:ea typeface="微软雅黑" panose="020B0503020204020204" charset="-122"/>
              </a:rPr>
              <a:t>MVM</a:t>
            </a:r>
            <a:r>
              <a:rPr lang="en-US" altLang="zh-CN" sz="1600" dirty="0">
                <a:solidFill>
                  <a:srgbClr val="FF0000"/>
                </a:solidFill>
                <a:latin typeface="Arial" panose="020B0604020202020204"/>
                <a:ea typeface="微软雅黑" panose="020B0503020204020204" charset="-122"/>
                <a:sym typeface="+mn-ea"/>
              </a:rPr>
              <a:t>BN4</a:t>
            </a:r>
            <a:endParaRPr lang="en-US" altLang="zh-CN" sz="1600" dirty="0">
              <a:solidFill>
                <a:prstClr val="black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cxnSp>
        <p:nvCxnSpPr>
          <p:cNvPr id="40" name="直接箭头连接符 39"/>
          <p:cNvCxnSpPr/>
          <p:nvPr>
            <p:custDataLst>
              <p:tags r:id="rId60"/>
            </p:custDataLst>
          </p:nvPr>
        </p:nvCxnSpPr>
        <p:spPr>
          <a:xfrm flipH="1">
            <a:off x="3674110" y="8587105"/>
            <a:ext cx="1129030" cy="0"/>
          </a:xfrm>
          <a:prstGeom prst="straightConnector1">
            <a:avLst/>
          </a:prstGeom>
          <a:noFill/>
          <a:ln w="76200" cap="flat" cmpd="sng" algn="ctr">
            <a:solidFill>
              <a:srgbClr val="92D050"/>
            </a:solidFill>
            <a:prstDash val="solid"/>
            <a:tailEnd type="arrow"/>
          </a:ln>
          <a:effectLst/>
        </p:spPr>
      </p:cxnSp>
      <p:cxnSp>
        <p:nvCxnSpPr>
          <p:cNvPr id="5" name="直接箭头连接符 4"/>
          <p:cNvCxnSpPr>
            <a:stCxn id="28" idx="1"/>
          </p:cNvCxnSpPr>
          <p:nvPr>
            <p:custDataLst>
              <p:tags r:id="rId61"/>
            </p:custDataLst>
          </p:nvPr>
        </p:nvCxnSpPr>
        <p:spPr>
          <a:xfrm flipH="1">
            <a:off x="3647442" y="2360263"/>
            <a:ext cx="765810" cy="172153"/>
          </a:xfrm>
          <a:prstGeom prst="straightConnector1">
            <a:avLst/>
          </a:prstGeom>
          <a:noFill/>
          <a:ln w="76200" cap="flat" cmpd="sng" algn="ctr">
            <a:solidFill>
              <a:srgbClr val="92D050"/>
            </a:solidFill>
            <a:prstDash val="solid"/>
            <a:tailEnd type="arrow"/>
          </a:ln>
          <a:effectLst/>
        </p:spPr>
      </p:cxnSp>
      <p:sp>
        <p:nvSpPr>
          <p:cNvPr id="28" name="文本框 27"/>
          <p:cNvSpPr txBox="1"/>
          <p:nvPr>
            <p:custDataLst>
              <p:tags r:id="rId62"/>
            </p:custDataLst>
          </p:nvPr>
        </p:nvSpPr>
        <p:spPr>
          <a:xfrm>
            <a:off x="4413252" y="2098653"/>
            <a:ext cx="1577975" cy="523220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/>
              <a:t>step-13</a:t>
            </a:r>
            <a:r>
              <a:rPr lang="zh-CN" altLang="en-US" sz="1400" dirty="0"/>
              <a:t>：</a:t>
            </a:r>
            <a:endParaRPr lang="en-US" altLang="zh-CN" sz="1400" dirty="0">
              <a:solidFill>
                <a:srgbClr val="FF0000"/>
              </a:solidFill>
              <a:sym typeface="+mn-ea"/>
            </a:endParaRPr>
          </a:p>
          <a:p>
            <a:pPr algn="ctr"/>
            <a:r>
              <a:rPr lang="en-US" altLang="zh-CN" sz="1400" dirty="0">
                <a:solidFill>
                  <a:srgbClr val="FF0000"/>
                </a:solidFill>
                <a:sym typeface="+mn-ea"/>
              </a:rPr>
              <a:t>ELEMENTWISE0</a:t>
            </a:r>
            <a:endParaRPr lang="en-US" altLang="zh-CN" sz="1400" dirty="0"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0" name="Google Shape;6480;p66"/>
          <p:cNvSpPr/>
          <p:nvPr/>
        </p:nvSpPr>
        <p:spPr>
          <a:xfrm>
            <a:off x="1124454" y="2328792"/>
            <a:ext cx="930150" cy="252187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8" tIns="68568" rIns="68568" bIns="68568" anchor="ctr" anchorCtr="0">
            <a:noAutofit/>
          </a:bodyPr>
          <a:lstStyle/>
          <a:p>
            <a:pPr algn="ctr" defTabSz="1219200">
              <a:buClr>
                <a:srgbClr val="000000"/>
              </a:buClr>
            </a:pPr>
            <a:r>
              <a:rPr lang="en-US" altLang="zh-CN" sz="750" kern="0" dirty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rPr>
              <a:t>Embedded input</a:t>
            </a:r>
            <a:endParaRPr lang="en-US" altLang="zh-CN" sz="750" kern="0" dirty="0">
              <a:solidFill>
                <a:srgbClr val="000000"/>
              </a:solidFill>
              <a:latin typeface="Arial" panose="020B0604020202020204"/>
              <a:cs typeface="Arial" panose="020B0604020202020204"/>
              <a:sym typeface="Arial" panose="020B0604020202020204"/>
            </a:endParaRPr>
          </a:p>
          <a:p>
            <a:pPr algn="ctr" defTabSz="1219200">
              <a:buClr>
                <a:srgbClr val="000000"/>
              </a:buClr>
            </a:pPr>
            <a:r>
              <a:rPr lang="en-US" altLang="zh-CN" sz="750" kern="0" dirty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rPr>
              <a:t>[19,1,4096]</a:t>
            </a:r>
            <a:endParaRPr lang="en-US" altLang="zh-CN" sz="750" kern="0" dirty="0">
              <a:solidFill>
                <a:srgbClr val="000000"/>
              </a:solidFill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" name="Google Shape;6480;p66"/>
          <p:cNvSpPr/>
          <p:nvPr/>
        </p:nvSpPr>
        <p:spPr>
          <a:xfrm>
            <a:off x="1124454" y="2822615"/>
            <a:ext cx="930150" cy="39815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8" tIns="68568" rIns="68568" bIns="68568" anchor="ctr" anchorCtr="0">
            <a:noAutofit/>
          </a:bodyPr>
          <a:lstStyle/>
          <a:p>
            <a:pPr algn="ctr" defTabSz="1219200">
              <a:buClr>
                <a:srgbClr val="000000"/>
              </a:buClr>
            </a:pPr>
            <a:r>
              <a:rPr lang="en-US" altLang="zh-CN" sz="750" kern="0" dirty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rPr>
              <a:t>QWen3Block</a:t>
            </a:r>
            <a:endParaRPr lang="en-US" altLang="zh-CN" sz="750" kern="0" dirty="0">
              <a:solidFill>
                <a:srgbClr val="000000"/>
              </a:solidFill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3" name="Google Shape;6480;p66"/>
          <p:cNvSpPr/>
          <p:nvPr/>
        </p:nvSpPr>
        <p:spPr>
          <a:xfrm>
            <a:off x="1124454" y="3491602"/>
            <a:ext cx="930150" cy="252187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8" tIns="68568" rIns="68568" bIns="68568" anchor="ctr" anchorCtr="0">
            <a:noAutofit/>
          </a:bodyPr>
          <a:lstStyle/>
          <a:p>
            <a:pPr algn="ctr" defTabSz="1219200">
              <a:buClr>
                <a:srgbClr val="000000"/>
              </a:buClr>
            </a:pPr>
            <a:r>
              <a:rPr lang="en-US" altLang="zh-CN" sz="750" kern="0" dirty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rPr>
              <a:t>Attention Scores</a:t>
            </a:r>
            <a:endParaRPr lang="en-US" altLang="zh-CN" sz="750" kern="0" dirty="0">
              <a:solidFill>
                <a:srgbClr val="000000"/>
              </a:solidFill>
              <a:latin typeface="Arial" panose="020B0604020202020204"/>
              <a:cs typeface="Arial" panose="020B0604020202020204"/>
              <a:sym typeface="Arial" panose="020B0604020202020204"/>
            </a:endParaRPr>
          </a:p>
          <a:p>
            <a:pPr algn="ctr" defTabSz="1219200">
              <a:buClr>
                <a:srgbClr val="000000"/>
              </a:buClr>
            </a:pPr>
            <a:r>
              <a:rPr lang="en-US" altLang="zh-CN" sz="750" kern="0" dirty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rPr>
              <a:t>[19,1,4096]</a:t>
            </a:r>
            <a:endParaRPr lang="en-US" altLang="zh-CN" sz="750" kern="0" dirty="0">
              <a:solidFill>
                <a:srgbClr val="000000"/>
              </a:solidFill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29" name="连接符: 肘形 28"/>
          <p:cNvCxnSpPr>
            <a:stCxn id="13" idx="3"/>
            <a:endCxn id="6480" idx="3"/>
          </p:cNvCxnSpPr>
          <p:nvPr/>
        </p:nvCxnSpPr>
        <p:spPr>
          <a:xfrm flipV="1">
            <a:off x="2054604" y="2454885"/>
            <a:ext cx="7144" cy="1162810"/>
          </a:xfrm>
          <a:prstGeom prst="bentConnector3">
            <a:avLst>
              <a:gd name="adj1" fmla="val 318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1" name="文本框 30"/>
          <p:cNvSpPr txBox="1"/>
          <p:nvPr/>
        </p:nvSpPr>
        <p:spPr>
          <a:xfrm>
            <a:off x="2121296" y="2917819"/>
            <a:ext cx="320755" cy="40472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15" dirty="0"/>
              <a:t>x36</a:t>
            </a:r>
            <a:endParaRPr lang="zh-CN" altLang="en-US" sz="1015" dirty="0"/>
          </a:p>
        </p:txBody>
      </p:sp>
      <p:cxnSp>
        <p:nvCxnSpPr>
          <p:cNvPr id="38" name="直接箭头连接符 37"/>
          <p:cNvCxnSpPr>
            <a:stCxn id="6480" idx="2"/>
            <a:endCxn id="11" idx="0"/>
          </p:cNvCxnSpPr>
          <p:nvPr/>
        </p:nvCxnSpPr>
        <p:spPr>
          <a:xfrm>
            <a:off x="1589529" y="2580979"/>
            <a:ext cx="0" cy="2416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>
            <a:stCxn id="11" idx="2"/>
            <a:endCxn id="13" idx="0"/>
          </p:cNvCxnSpPr>
          <p:nvPr/>
        </p:nvCxnSpPr>
        <p:spPr>
          <a:xfrm>
            <a:off x="1589529" y="3220773"/>
            <a:ext cx="0" cy="2708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/>
          <p:cNvSpPr txBox="1"/>
          <p:nvPr/>
        </p:nvSpPr>
        <p:spPr>
          <a:xfrm>
            <a:off x="988973" y="4014618"/>
            <a:ext cx="1201113" cy="430701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8" tIns="68568" rIns="68568" bIns="68568" anchor="ctr" anchorCtr="0">
            <a:noAutofit/>
          </a:bodyPr>
          <a:lstStyle>
            <a:defPPr>
              <a:defRPr lang="zh-CN"/>
            </a:defPPr>
            <a:lvl1pPr algn="ctr" defTabSz="1219200">
              <a:buClr>
                <a:srgbClr val="000000"/>
              </a:buClr>
              <a:defRPr sz="1335" kern="0">
                <a:solidFill>
                  <a:srgbClr val="000000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r>
              <a:rPr lang="zh-CN" altLang="en-US" sz="750" dirty="0"/>
              <a:t>final_layernorm</a:t>
            </a:r>
            <a:endParaRPr lang="en-US" altLang="zh-CN" sz="750" dirty="0"/>
          </a:p>
          <a:p>
            <a:pPr algn="ctr" defTabSz="1219200">
              <a:buClr>
                <a:srgbClr val="000000"/>
              </a:buClr>
            </a:pPr>
            <a:r>
              <a:rPr lang="en-US" altLang="zh-CN" sz="750" kern="0" dirty="0" err="1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rPr>
              <a:t>LN_k</a:t>
            </a:r>
            <a:r>
              <a:rPr lang="en-US" altLang="zh-CN" sz="750" kern="0" dirty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rPr>
              <a:t>: [1,4096] (FP16)</a:t>
            </a:r>
            <a:endParaRPr lang="en-US" altLang="zh-CN" sz="750" kern="0" dirty="0">
              <a:solidFill>
                <a:srgbClr val="000000"/>
              </a:solidFill>
              <a:latin typeface="Arial" panose="020B0604020202020204"/>
              <a:cs typeface="Arial" panose="020B0604020202020204"/>
              <a:sym typeface="Arial" panose="020B0604020202020204"/>
            </a:endParaRPr>
          </a:p>
          <a:p>
            <a:pPr algn="ctr" defTabSz="1219200">
              <a:buClr>
                <a:srgbClr val="000000"/>
              </a:buClr>
            </a:pPr>
            <a:r>
              <a:rPr lang="en-US" altLang="zh-CN" sz="750" kern="0" dirty="0" err="1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rPr>
              <a:t>LN_bias</a:t>
            </a:r>
            <a:r>
              <a:rPr lang="en-US" altLang="zh-CN" sz="750" kern="0" dirty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rPr>
              <a:t>: [4096] (FP16)</a:t>
            </a:r>
            <a:endParaRPr lang="en-US" altLang="zh-CN" sz="750" kern="0" dirty="0">
              <a:solidFill>
                <a:srgbClr val="000000"/>
              </a:solidFill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3416959" y="2536568"/>
            <a:ext cx="1133885" cy="499723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8" tIns="68568" rIns="68568" bIns="68568" anchor="ctr" anchorCtr="0">
            <a:noAutofit/>
          </a:bodyPr>
          <a:lstStyle>
            <a:defPPr>
              <a:defRPr lang="zh-CN"/>
            </a:defPPr>
            <a:lvl1pPr algn="ctr" defTabSz="1219200">
              <a:buClr>
                <a:srgbClr val="000000"/>
              </a:buClr>
              <a:defRPr sz="1335" kern="0">
                <a:solidFill>
                  <a:srgbClr val="000000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r>
              <a:rPr lang="zh-CN" altLang="en-US" sz="750" dirty="0"/>
              <a:t>output_layer </a:t>
            </a:r>
            <a:r>
              <a:rPr lang="en-US" altLang="zh-CN" sz="750" dirty="0"/>
              <a:t>(MVM)</a:t>
            </a:r>
            <a:endParaRPr lang="en-US" altLang="zh-CN" sz="750" dirty="0"/>
          </a:p>
          <a:p>
            <a:r>
              <a:rPr lang="en-US" altLang="zh-CN" sz="750" dirty="0"/>
              <a:t>[4096</a:t>
            </a:r>
            <a:r>
              <a:rPr lang="zh-CN" altLang="en-US" sz="750" dirty="0"/>
              <a:t>, </a:t>
            </a:r>
            <a:r>
              <a:rPr lang="en-US" altLang="zh-CN" sz="750" dirty="0"/>
              <a:t>151936]</a:t>
            </a:r>
            <a:endParaRPr lang="zh-CN" altLang="en-US" sz="750" dirty="0"/>
          </a:p>
        </p:txBody>
      </p:sp>
      <p:cxnSp>
        <p:nvCxnSpPr>
          <p:cNvPr id="42" name="直接箭头连接符 41"/>
          <p:cNvCxnSpPr>
            <a:stCxn id="13" idx="2"/>
            <a:endCxn id="36" idx="0"/>
          </p:cNvCxnSpPr>
          <p:nvPr/>
        </p:nvCxnSpPr>
        <p:spPr>
          <a:xfrm>
            <a:off x="1589529" y="3743789"/>
            <a:ext cx="0" cy="2708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Google Shape;6480;p66"/>
          <p:cNvSpPr/>
          <p:nvPr/>
        </p:nvSpPr>
        <p:spPr>
          <a:xfrm>
            <a:off x="1124454" y="4654412"/>
            <a:ext cx="930150" cy="252187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8" tIns="68568" rIns="68568" bIns="68568" anchor="ctr" anchorCtr="0">
            <a:noAutofit/>
          </a:bodyPr>
          <a:lstStyle/>
          <a:p>
            <a:pPr algn="ctr" defTabSz="1219200">
              <a:buClr>
                <a:srgbClr val="000000"/>
              </a:buClr>
            </a:pPr>
            <a:r>
              <a:rPr lang="en-US" altLang="zh-CN" sz="750" kern="0" dirty="0" err="1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rPr>
              <a:t>hidden_states</a:t>
            </a:r>
            <a:endParaRPr lang="en-US" altLang="zh-CN" sz="750" kern="0" dirty="0">
              <a:solidFill>
                <a:srgbClr val="000000"/>
              </a:solidFill>
              <a:latin typeface="Arial" panose="020B0604020202020204"/>
              <a:cs typeface="Arial" panose="020B0604020202020204"/>
              <a:sym typeface="Arial" panose="020B0604020202020204"/>
            </a:endParaRPr>
          </a:p>
          <a:p>
            <a:pPr algn="ctr" defTabSz="1219200">
              <a:buClr>
                <a:srgbClr val="000000"/>
              </a:buClr>
            </a:pPr>
            <a:r>
              <a:rPr lang="en-US" altLang="zh-CN" sz="750" kern="0" dirty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rPr>
              <a:t>[19,1,4096]</a:t>
            </a:r>
            <a:endParaRPr lang="en-US" altLang="zh-CN" sz="750" kern="0" dirty="0">
              <a:solidFill>
                <a:srgbClr val="000000"/>
              </a:solidFill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49" name="直接箭头连接符 48"/>
          <p:cNvCxnSpPr>
            <a:stCxn id="36" idx="2"/>
            <a:endCxn id="48" idx="0"/>
          </p:cNvCxnSpPr>
          <p:nvPr/>
        </p:nvCxnSpPr>
        <p:spPr>
          <a:xfrm>
            <a:off x="1589529" y="4445319"/>
            <a:ext cx="0" cy="2090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连接符: 肘形 56"/>
          <p:cNvCxnSpPr>
            <a:stCxn id="48" idx="3"/>
            <a:endCxn id="39" idx="0"/>
          </p:cNvCxnSpPr>
          <p:nvPr/>
        </p:nvCxnSpPr>
        <p:spPr>
          <a:xfrm flipV="1">
            <a:off x="2054604" y="2536568"/>
            <a:ext cx="1929297" cy="2243938"/>
          </a:xfrm>
          <a:prstGeom prst="bentConnector4">
            <a:avLst>
              <a:gd name="adj1" fmla="val 35307"/>
              <a:gd name="adj2" fmla="val 110505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Google Shape;6480;p66"/>
          <p:cNvSpPr/>
          <p:nvPr/>
        </p:nvSpPr>
        <p:spPr>
          <a:xfrm>
            <a:off x="3518826" y="3365509"/>
            <a:ext cx="930150" cy="252187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8" tIns="68568" rIns="68568" bIns="68568" anchor="ctr" anchorCtr="0">
            <a:noAutofit/>
          </a:bodyPr>
          <a:lstStyle/>
          <a:p>
            <a:pPr algn="ctr" defTabSz="1219200">
              <a:buClr>
                <a:srgbClr val="000000"/>
              </a:buClr>
            </a:pPr>
            <a:r>
              <a:rPr lang="en-US" altLang="zh-CN" sz="750" kern="0" dirty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rPr>
              <a:t>Output</a:t>
            </a:r>
            <a:endParaRPr lang="en-US" altLang="zh-CN" sz="750" kern="0" dirty="0">
              <a:solidFill>
                <a:srgbClr val="000000"/>
              </a:solidFill>
              <a:latin typeface="Arial" panose="020B0604020202020204"/>
              <a:cs typeface="Arial" panose="020B0604020202020204"/>
              <a:sym typeface="Arial" panose="020B0604020202020204"/>
            </a:endParaRPr>
          </a:p>
          <a:p>
            <a:pPr algn="ctr" defTabSz="1219200">
              <a:buClr>
                <a:srgbClr val="000000"/>
              </a:buClr>
            </a:pPr>
            <a:r>
              <a:rPr lang="en-US" altLang="zh-CN" sz="750" kern="0" dirty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rPr>
              <a:t>[19,1,</a:t>
            </a:r>
            <a:r>
              <a:rPr lang="zh-CN" altLang="en-US" sz="790" dirty="0"/>
              <a:t> </a:t>
            </a:r>
            <a:r>
              <a:rPr lang="en-US" altLang="zh-CN" sz="790" dirty="0"/>
              <a:t>151936</a:t>
            </a:r>
            <a:r>
              <a:rPr lang="en-US" altLang="zh-CN" sz="750" kern="0" dirty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rPr>
              <a:t>]</a:t>
            </a:r>
            <a:endParaRPr lang="en-US" altLang="zh-CN" sz="750" kern="0" dirty="0">
              <a:solidFill>
                <a:srgbClr val="000000"/>
              </a:solidFill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6464" name="直接箭头连接符 6463"/>
          <p:cNvCxnSpPr>
            <a:stCxn id="39" idx="2"/>
            <a:endCxn id="60" idx="0"/>
          </p:cNvCxnSpPr>
          <p:nvPr/>
        </p:nvCxnSpPr>
        <p:spPr>
          <a:xfrm flipH="1">
            <a:off x="3983901" y="3036290"/>
            <a:ext cx="1" cy="3292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4909741" y="3117850"/>
            <a:ext cx="1523048" cy="247650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US" altLang="zh-CN" sz="1015" dirty="0"/>
              <a:t>1</a:t>
            </a:r>
            <a:r>
              <a:rPr lang="zh-CN" altLang="en-US" sz="1015" dirty="0"/>
              <a:t>次</a:t>
            </a:r>
            <a:r>
              <a:rPr lang="en-US" altLang="zh-CN" sz="1015" dirty="0">
                <a:sym typeface="+mn-ea"/>
              </a:rPr>
              <a:t>MVM_BN</a:t>
            </a:r>
            <a:r>
              <a:rPr lang="zh-CN" altLang="en-US" sz="1015" dirty="0">
                <a:sym typeface="+mn-ea"/>
              </a:rPr>
              <a:t>算子</a:t>
            </a:r>
            <a:endParaRPr lang="zh-CN" altLang="en-US" sz="1015" dirty="0"/>
          </a:p>
        </p:txBody>
      </p:sp>
      <p:cxnSp>
        <p:nvCxnSpPr>
          <p:cNvPr id="2" name="直接箭头连接符 1"/>
          <p:cNvCxnSpPr/>
          <p:nvPr>
            <p:custDataLst>
              <p:tags r:id="rId1"/>
            </p:custDataLst>
          </p:nvPr>
        </p:nvCxnSpPr>
        <p:spPr>
          <a:xfrm flipH="1" flipV="1">
            <a:off x="4675188" y="2780109"/>
            <a:ext cx="1044773" cy="42505"/>
          </a:xfrm>
          <a:prstGeom prst="straightConnector1">
            <a:avLst/>
          </a:prstGeom>
          <a:ln w="76200">
            <a:solidFill>
              <a:srgbClr val="92D05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2926040" y="4238149"/>
            <a:ext cx="1523048" cy="247650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US" altLang="zh-CN" sz="1015"/>
              <a:t>1</a:t>
            </a:r>
            <a:r>
              <a:rPr lang="zh-CN" altLang="en-US" sz="1015"/>
              <a:t>次</a:t>
            </a:r>
            <a:r>
              <a:rPr lang="en-US" altLang="zh-CN" sz="1015" dirty="0">
                <a:sym typeface="+mn-ea"/>
              </a:rPr>
              <a:t>LayerNorm</a:t>
            </a:r>
            <a:r>
              <a:rPr lang="zh-CN" altLang="en-US" sz="1015">
                <a:sym typeface="+mn-ea"/>
              </a:rPr>
              <a:t>算子</a:t>
            </a:r>
            <a:endParaRPr lang="zh-CN" altLang="en-US" sz="1015"/>
          </a:p>
        </p:txBody>
      </p:sp>
      <p:cxnSp>
        <p:nvCxnSpPr>
          <p:cNvPr id="5" name="直接箭头连接符 4"/>
          <p:cNvCxnSpPr/>
          <p:nvPr>
            <p:custDataLst>
              <p:tags r:id="rId3"/>
            </p:custDataLst>
          </p:nvPr>
        </p:nvCxnSpPr>
        <p:spPr>
          <a:xfrm flipH="1">
            <a:off x="2266315" y="4309943"/>
            <a:ext cx="558998" cy="13216"/>
          </a:xfrm>
          <a:prstGeom prst="straightConnector1">
            <a:avLst/>
          </a:prstGeom>
          <a:ln w="76200">
            <a:solidFill>
              <a:srgbClr val="92D05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572220" y="208888"/>
            <a:ext cx="3928710" cy="4423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75" dirty="0"/>
              <a:t>LLaMA2-7B </a:t>
            </a:r>
            <a:r>
              <a:rPr lang="en-US" altLang="zh-CN" sz="2275" dirty="0" err="1"/>
              <a:t>RotaryEmbedding</a:t>
            </a:r>
            <a:r>
              <a:rPr lang="en-US" altLang="zh-CN" sz="2275" dirty="0"/>
              <a:t> </a:t>
            </a:r>
            <a:endParaRPr lang="zh-CN" altLang="en-US" sz="2275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011" y="885838"/>
            <a:ext cx="5345978" cy="8131148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1_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1871</Words>
  <Application>WPS 演示</Application>
  <PresentationFormat>自定义</PresentationFormat>
  <Paragraphs>268</Paragraphs>
  <Slides>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5" baseType="lpstr">
      <vt:lpstr>Arial</vt:lpstr>
      <vt:lpstr>宋体</vt:lpstr>
      <vt:lpstr>Wingdings</vt:lpstr>
      <vt:lpstr>Arial</vt:lpstr>
      <vt:lpstr>微软雅黑</vt:lpstr>
      <vt:lpstr>Calibri</vt:lpstr>
      <vt:lpstr>等线</vt:lpstr>
      <vt:lpstr>Arial Unicode MS</vt:lpstr>
      <vt:lpstr>等线 Light</vt:lpstr>
      <vt:lpstr>Calibri Light</vt:lpstr>
      <vt:lpstr>1_Office 主题​​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Shawn Huang</dc:creator>
  <cp:lastModifiedBy>学会忘记</cp:lastModifiedBy>
  <cp:revision>14</cp:revision>
  <dcterms:created xsi:type="dcterms:W3CDTF">2025-01-17T03:21:00Z</dcterms:created>
  <dcterms:modified xsi:type="dcterms:W3CDTF">2025-08-28T02:09:22Z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A428BBB10488434EA50DA761B3C0FAEA_12</vt:lpwstr>
  </property>
  <property fmtid="{D5CDD505-2E9C-101B-9397-08002B2CF9AE}" pid="3" name="KSOProductBuildVer">
    <vt:lpwstr>2052-12.1.0.22529</vt:lpwstr>
  </property>
</Properties>
</file>